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57"/>
  </p:normalViewPr>
  <p:slideViewPr>
    <p:cSldViewPr snapToGrid="0">
      <p:cViewPr varScale="1">
        <p:scale>
          <a:sx n="102" d="100"/>
          <a:sy n="102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BlockTimelineDefaultColorVariant">
  <dgm:title val="Block Timeline Default Color Variant"/>
  <dgm:desc val="Block Timeline Default Color Variant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191224-D0D0-4A20-8F27-FA708E6ACECF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9EE6CB-1016-4F6F-B2D9-B7BCBFE9AB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Developmental Burden</a:t>
          </a:r>
        </a:p>
      </dgm:t>
    </dgm:pt>
    <dgm:pt modelId="{414118F9-08CC-4DA1-9243-52E1C8008104}" type="parTrans" cxnId="{6B1EFD09-C258-459A-9B25-CE46E913A73E}">
      <dgm:prSet/>
      <dgm:spPr/>
      <dgm:t>
        <a:bodyPr/>
        <a:lstStyle/>
        <a:p>
          <a:endParaRPr lang="en-US"/>
        </a:p>
      </dgm:t>
    </dgm:pt>
    <dgm:pt modelId="{85C92E01-6E3C-4020-8DA3-85ABCB023CC6}" type="sibTrans" cxnId="{6B1EFD09-C258-459A-9B25-CE46E913A73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7C3DBB9-833E-4311-9D16-DFF1B9564794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b="0" i="0" dirty="0"/>
            <a:t>Determine whether ADHD carries an earlier and broader cross-system disease burden from birth to adolescence.</a:t>
          </a:r>
          <a:endParaRPr lang="en-US" dirty="0"/>
        </a:p>
      </dgm:t>
    </dgm:pt>
    <dgm:pt modelId="{A2CE3CCA-A7DF-4C08-AC00-A14E7A1AC5EA}" type="parTrans" cxnId="{69BD66FC-9768-4EAC-A247-C550B2299C69}">
      <dgm:prSet/>
      <dgm:spPr/>
      <dgm:t>
        <a:bodyPr/>
        <a:lstStyle/>
        <a:p>
          <a:endParaRPr lang="en-US"/>
        </a:p>
      </dgm:t>
    </dgm:pt>
    <dgm:pt modelId="{43E6E735-D32B-4EF8-9981-AD2AAFDE1955}" type="sibTrans" cxnId="{69BD66FC-9768-4EAC-A247-C550B2299C69}">
      <dgm:prSet/>
      <dgm:spPr/>
      <dgm:t>
        <a:bodyPr/>
        <a:lstStyle/>
        <a:p>
          <a:endParaRPr lang="en-US"/>
        </a:p>
      </dgm:t>
    </dgm:pt>
    <dgm:pt modelId="{5A91B666-90E0-4C83-8DA6-9AF892E6E4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Multimorbidity Profile</a:t>
          </a:r>
        </a:p>
      </dgm:t>
    </dgm:pt>
    <dgm:pt modelId="{8367F44A-7F34-4FED-A249-0BAE0ACAF347}" type="parTrans" cxnId="{F65A14CB-DC16-4C9A-87F7-660B0EC0C146}">
      <dgm:prSet/>
      <dgm:spPr/>
      <dgm:t>
        <a:bodyPr/>
        <a:lstStyle/>
        <a:p>
          <a:endParaRPr lang="en-US"/>
        </a:p>
      </dgm:t>
    </dgm:pt>
    <dgm:pt modelId="{A92D10B5-9B8A-40FA-BB06-E4129B48B226}" type="sibTrans" cxnId="{F65A14CB-DC16-4C9A-87F7-660B0EC0C146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A97452C1-7DA7-4668-BFCA-D183D702DC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Resolve that burden into distinct clinical profiles, testing whether ADHD multimorbidity is heterogeneous rather than uniformly high.</a:t>
          </a:r>
          <a:endParaRPr lang="en-US" dirty="0"/>
        </a:p>
      </dgm:t>
    </dgm:pt>
    <dgm:pt modelId="{CC1D3875-A256-48DF-84E2-A693DC3A5EC9}" type="parTrans" cxnId="{057C9344-6812-4B0E-9DC8-5F9EC319C5FC}">
      <dgm:prSet/>
      <dgm:spPr/>
      <dgm:t>
        <a:bodyPr/>
        <a:lstStyle/>
        <a:p>
          <a:endParaRPr lang="en-US"/>
        </a:p>
      </dgm:t>
    </dgm:pt>
    <dgm:pt modelId="{60706655-ED69-45F7-8CD9-6B79933507FA}" type="sibTrans" cxnId="{057C9344-6812-4B0E-9DC8-5F9EC319C5FC}">
      <dgm:prSet/>
      <dgm:spPr/>
      <dgm:t>
        <a:bodyPr/>
        <a:lstStyle/>
        <a:p>
          <a:endParaRPr lang="en-US"/>
        </a:p>
      </dgm:t>
    </dgm:pt>
    <dgm:pt modelId="{3747045E-B95C-4840-9CE1-5F682568D7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Early Life Origin</a:t>
          </a:r>
        </a:p>
      </dgm:t>
    </dgm:pt>
    <dgm:pt modelId="{6CA8429A-6359-4106-B0AE-850EB2AB233E}" type="parTrans" cxnId="{56259836-C372-4174-BB9A-D96732E5F23F}">
      <dgm:prSet/>
      <dgm:spPr/>
      <dgm:t>
        <a:bodyPr/>
        <a:lstStyle/>
        <a:p>
          <a:endParaRPr lang="en-US"/>
        </a:p>
      </dgm:t>
    </dgm:pt>
    <dgm:pt modelId="{BEE09251-A177-4FE5-B1F3-EDCF7ED6959D}" type="sibTrans" cxnId="{56259836-C372-4174-BB9A-D96732E5F23F}">
      <dgm:prSet/>
      <dgm:spPr/>
      <dgm:t>
        <a:bodyPr/>
        <a:lstStyle/>
        <a:p>
          <a:endParaRPr lang="en-US"/>
        </a:p>
      </dgm:t>
    </dgm:pt>
    <dgm:pt modelId="{7704190A-B6CE-42A0-BF6E-A2BDAC0110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Trace those profiles back to distinct prenatal exposures, linking later clinical heterogeneity to its origins at birth.</a:t>
          </a:r>
          <a:endParaRPr lang="en-US" dirty="0"/>
        </a:p>
      </dgm:t>
    </dgm:pt>
    <dgm:pt modelId="{106D502A-E30C-4852-975D-391A9B96D003}" type="parTrans" cxnId="{8066417F-9456-4A54-A919-01D6E0F92121}">
      <dgm:prSet/>
      <dgm:spPr/>
      <dgm:t>
        <a:bodyPr/>
        <a:lstStyle/>
        <a:p>
          <a:endParaRPr lang="en-US"/>
        </a:p>
      </dgm:t>
    </dgm:pt>
    <dgm:pt modelId="{FA7DA594-67AA-4B61-BBFD-507EF4D6BC79}" type="sibTrans" cxnId="{8066417F-9456-4A54-A919-01D6E0F92121}">
      <dgm:prSet/>
      <dgm:spPr/>
      <dgm:t>
        <a:bodyPr/>
        <a:lstStyle/>
        <a:p>
          <a:endParaRPr lang="en-US"/>
        </a:p>
      </dgm:t>
    </dgm:pt>
    <dgm:pt modelId="{7DD8AF84-A144-C948-A558-A16CC1E4B963}" type="pres">
      <dgm:prSet presAssocID="{65191224-D0D0-4A20-8F27-FA708E6ACECF}" presName="Name0" presStyleCnt="0">
        <dgm:presLayoutVars>
          <dgm:dir/>
          <dgm:resizeHandles val="exact"/>
        </dgm:presLayoutVars>
      </dgm:prSet>
      <dgm:spPr/>
    </dgm:pt>
    <dgm:pt modelId="{1438FC66-D55B-EE45-9608-FBA1E44D12EC}" type="pres">
      <dgm:prSet presAssocID="{DC9EE6CB-1016-4F6F-B2D9-B7BCBFE9AB84}" presName="compNode" presStyleCnt="0"/>
      <dgm:spPr/>
    </dgm:pt>
    <dgm:pt modelId="{93A74664-473E-404D-B800-C7E0E3367AD3}" type="pres">
      <dgm:prSet presAssocID="{DC9EE6CB-1016-4F6F-B2D9-B7BCBFE9AB84}" presName="pictRect" presStyleLbl="revTx" presStyleIdx="0" presStyleCnt="6">
        <dgm:presLayoutVars>
          <dgm:chMax val="0"/>
          <dgm:bulletEnabled/>
        </dgm:presLayoutVars>
      </dgm:prSet>
      <dgm:spPr/>
    </dgm:pt>
    <dgm:pt modelId="{CF568F74-1421-D548-91CE-7C2C2DF62C8E}" type="pres">
      <dgm:prSet presAssocID="{DC9EE6CB-1016-4F6F-B2D9-B7BCBFE9AB84}" presName="textRect" presStyleLbl="revTx" presStyleIdx="1" presStyleCnt="6">
        <dgm:presLayoutVars>
          <dgm:bulletEnabled/>
        </dgm:presLayoutVars>
      </dgm:prSet>
      <dgm:spPr/>
    </dgm:pt>
    <dgm:pt modelId="{081F65D0-3FB6-EE41-A8F1-1470C214CD88}" type="pres">
      <dgm:prSet presAssocID="{85C92E01-6E3C-4020-8DA3-85ABCB023CC6}" presName="sibTrans" presStyleLbl="sibTrans2D1" presStyleIdx="0" presStyleCnt="0"/>
      <dgm:spPr/>
    </dgm:pt>
    <dgm:pt modelId="{197F14E6-10EB-F146-9AD4-F2C077DF8F4D}" type="pres">
      <dgm:prSet presAssocID="{5A91B666-90E0-4C83-8DA6-9AF892E6E433}" presName="compNode" presStyleCnt="0"/>
      <dgm:spPr/>
    </dgm:pt>
    <dgm:pt modelId="{E3C516BF-8BF6-5F4F-BCCE-9933F6971788}" type="pres">
      <dgm:prSet presAssocID="{5A91B666-90E0-4C83-8DA6-9AF892E6E433}" presName="pictRect" presStyleLbl="revTx" presStyleIdx="2" presStyleCnt="6">
        <dgm:presLayoutVars>
          <dgm:chMax val="0"/>
          <dgm:bulletEnabled/>
        </dgm:presLayoutVars>
      </dgm:prSet>
      <dgm:spPr/>
    </dgm:pt>
    <dgm:pt modelId="{6B1A94A4-4CDB-8C45-9D22-182C9A4BD53F}" type="pres">
      <dgm:prSet presAssocID="{5A91B666-90E0-4C83-8DA6-9AF892E6E433}" presName="textRect" presStyleLbl="revTx" presStyleIdx="3" presStyleCnt="6">
        <dgm:presLayoutVars>
          <dgm:bulletEnabled/>
        </dgm:presLayoutVars>
      </dgm:prSet>
      <dgm:spPr/>
    </dgm:pt>
    <dgm:pt modelId="{5F634B16-6079-4543-9E10-66445FD29C3D}" type="pres">
      <dgm:prSet presAssocID="{A92D10B5-9B8A-40FA-BB06-E4129B48B226}" presName="sibTrans" presStyleLbl="sibTrans2D1" presStyleIdx="0" presStyleCnt="0"/>
      <dgm:spPr/>
    </dgm:pt>
    <dgm:pt modelId="{F4B4921C-5817-F649-970A-9B7AB21D0213}" type="pres">
      <dgm:prSet presAssocID="{3747045E-B95C-4840-9CE1-5F682568D7A1}" presName="compNode" presStyleCnt="0"/>
      <dgm:spPr/>
    </dgm:pt>
    <dgm:pt modelId="{DFB3EC24-6C6D-9648-B8CF-B77F552223CC}" type="pres">
      <dgm:prSet presAssocID="{3747045E-B95C-4840-9CE1-5F682568D7A1}" presName="pictRect" presStyleLbl="revTx" presStyleIdx="4" presStyleCnt="6">
        <dgm:presLayoutVars>
          <dgm:chMax val="0"/>
          <dgm:bulletEnabled/>
        </dgm:presLayoutVars>
      </dgm:prSet>
      <dgm:spPr/>
    </dgm:pt>
    <dgm:pt modelId="{9A4CA995-4804-4D4B-88AF-7686C231FF1D}" type="pres">
      <dgm:prSet presAssocID="{3747045E-B95C-4840-9CE1-5F682568D7A1}" presName="textRect" presStyleLbl="revTx" presStyleIdx="5" presStyleCnt="6">
        <dgm:presLayoutVars>
          <dgm:bulletEnabled/>
        </dgm:presLayoutVars>
      </dgm:prSet>
      <dgm:spPr/>
    </dgm:pt>
  </dgm:ptLst>
  <dgm:cxnLst>
    <dgm:cxn modelId="{0D6C9A00-3469-664E-855E-DD5F84C6C8C0}" type="presOf" srcId="{A97452C1-7DA7-4668-BFCA-D183D702DCAE}" destId="{6B1A94A4-4CDB-8C45-9D22-182C9A4BD53F}" srcOrd="0" destOrd="0" presId="urn:microsoft.com/office/officeart/2024/3/layout/hArchList1"/>
    <dgm:cxn modelId="{6B1EFD09-C258-459A-9B25-CE46E913A73E}" srcId="{65191224-D0D0-4A20-8F27-FA708E6ACECF}" destId="{DC9EE6CB-1016-4F6F-B2D9-B7BCBFE9AB84}" srcOrd="0" destOrd="0" parTransId="{414118F9-08CC-4DA1-9243-52E1C8008104}" sibTransId="{85C92E01-6E3C-4020-8DA3-85ABCB023CC6}"/>
    <dgm:cxn modelId="{B181AA1C-2BE4-D548-9CBF-B248EB8AB019}" type="presOf" srcId="{A92D10B5-9B8A-40FA-BB06-E4129B48B226}" destId="{5F634B16-6079-4543-9E10-66445FD29C3D}" srcOrd="0" destOrd="0" presId="urn:microsoft.com/office/officeart/2024/3/layout/hArchList1"/>
    <dgm:cxn modelId="{56259836-C372-4174-BB9A-D96732E5F23F}" srcId="{65191224-D0D0-4A20-8F27-FA708E6ACECF}" destId="{3747045E-B95C-4840-9CE1-5F682568D7A1}" srcOrd="2" destOrd="0" parTransId="{6CA8429A-6359-4106-B0AE-850EB2AB233E}" sibTransId="{BEE09251-A177-4FE5-B1F3-EDCF7ED6959D}"/>
    <dgm:cxn modelId="{E396353A-7F05-624D-ABF9-B236C6D42BDF}" type="presOf" srcId="{5A91B666-90E0-4C83-8DA6-9AF892E6E433}" destId="{E3C516BF-8BF6-5F4F-BCCE-9933F6971788}" srcOrd="0" destOrd="0" presId="urn:microsoft.com/office/officeart/2024/3/layout/hArchList1"/>
    <dgm:cxn modelId="{057C9344-6812-4B0E-9DC8-5F9EC319C5FC}" srcId="{5A91B666-90E0-4C83-8DA6-9AF892E6E433}" destId="{A97452C1-7DA7-4668-BFCA-D183D702DCAE}" srcOrd="0" destOrd="0" parTransId="{CC1D3875-A256-48DF-84E2-A693DC3A5EC9}" sibTransId="{60706655-ED69-45F7-8CD9-6B79933507FA}"/>
    <dgm:cxn modelId="{0CB5B554-9FF2-6646-B0AF-52874AE98FD1}" type="presOf" srcId="{3747045E-B95C-4840-9CE1-5F682568D7A1}" destId="{DFB3EC24-6C6D-9648-B8CF-B77F552223CC}" srcOrd="0" destOrd="0" presId="urn:microsoft.com/office/officeart/2024/3/layout/hArchList1"/>
    <dgm:cxn modelId="{8066417F-9456-4A54-A919-01D6E0F92121}" srcId="{3747045E-B95C-4840-9CE1-5F682568D7A1}" destId="{7704190A-B6CE-42A0-BF6E-A2BDAC01105E}" srcOrd="0" destOrd="0" parTransId="{106D502A-E30C-4852-975D-391A9B96D003}" sibTransId="{FA7DA594-67AA-4B61-BBFD-507EF4D6BC79}"/>
    <dgm:cxn modelId="{2C5E0799-E090-5843-91C0-1C299D093D32}" type="presOf" srcId="{65191224-D0D0-4A20-8F27-FA708E6ACECF}" destId="{7DD8AF84-A144-C948-A558-A16CC1E4B963}" srcOrd="0" destOrd="0" presId="urn:microsoft.com/office/officeart/2024/3/layout/hArchList1"/>
    <dgm:cxn modelId="{82F52A9F-8D55-564D-BEB0-8F0F8E313D7B}" type="presOf" srcId="{85C92E01-6E3C-4020-8DA3-85ABCB023CC6}" destId="{081F65D0-3FB6-EE41-A8F1-1470C214CD88}" srcOrd="0" destOrd="0" presId="urn:microsoft.com/office/officeart/2024/3/layout/hArchList1"/>
    <dgm:cxn modelId="{74D207C9-F190-3347-A923-6C8F7F4EC007}" type="presOf" srcId="{7704190A-B6CE-42A0-BF6E-A2BDAC01105E}" destId="{9A4CA995-4804-4D4B-88AF-7686C231FF1D}" srcOrd="0" destOrd="0" presId="urn:microsoft.com/office/officeart/2024/3/layout/hArchList1"/>
    <dgm:cxn modelId="{F65A14CB-DC16-4C9A-87F7-660B0EC0C146}" srcId="{65191224-D0D0-4A20-8F27-FA708E6ACECF}" destId="{5A91B666-90E0-4C83-8DA6-9AF892E6E433}" srcOrd="1" destOrd="0" parTransId="{8367F44A-7F34-4FED-A249-0BAE0ACAF347}" sibTransId="{A92D10B5-9B8A-40FA-BB06-E4129B48B226}"/>
    <dgm:cxn modelId="{F1432BFB-B2C6-DC44-8F96-6118C12DEF0F}" type="presOf" srcId="{B7C3DBB9-833E-4311-9D16-DFF1B9564794}" destId="{CF568F74-1421-D548-91CE-7C2C2DF62C8E}" srcOrd="0" destOrd="0" presId="urn:microsoft.com/office/officeart/2024/3/layout/hArchList1"/>
    <dgm:cxn modelId="{69BD66FC-9768-4EAC-A247-C550B2299C69}" srcId="{DC9EE6CB-1016-4F6F-B2D9-B7BCBFE9AB84}" destId="{B7C3DBB9-833E-4311-9D16-DFF1B9564794}" srcOrd="0" destOrd="0" parTransId="{A2CE3CCA-A7DF-4C08-AC00-A14E7A1AC5EA}" sibTransId="{43E6E735-D32B-4EF8-9981-AD2AAFDE1955}"/>
    <dgm:cxn modelId="{54C4FBFE-6484-3942-AF37-D600752BC958}" type="presOf" srcId="{DC9EE6CB-1016-4F6F-B2D9-B7BCBFE9AB84}" destId="{93A74664-473E-404D-B800-C7E0E3367AD3}" srcOrd="0" destOrd="0" presId="urn:microsoft.com/office/officeart/2024/3/layout/hArchList1"/>
    <dgm:cxn modelId="{2ADACD8F-80BD-6848-B615-972CA7EAE4CE}" type="presParOf" srcId="{7DD8AF84-A144-C948-A558-A16CC1E4B963}" destId="{1438FC66-D55B-EE45-9608-FBA1E44D12EC}" srcOrd="0" destOrd="0" presId="urn:microsoft.com/office/officeart/2024/3/layout/hArchList1"/>
    <dgm:cxn modelId="{5975A118-ED7C-2546-A407-7A123191DDB1}" type="presParOf" srcId="{1438FC66-D55B-EE45-9608-FBA1E44D12EC}" destId="{93A74664-473E-404D-B800-C7E0E3367AD3}" srcOrd="0" destOrd="0" presId="urn:microsoft.com/office/officeart/2024/3/layout/hArchList1"/>
    <dgm:cxn modelId="{45358E81-503B-FA4A-9D06-9E8861847D18}" type="presParOf" srcId="{1438FC66-D55B-EE45-9608-FBA1E44D12EC}" destId="{CF568F74-1421-D548-91CE-7C2C2DF62C8E}" srcOrd="1" destOrd="0" presId="urn:microsoft.com/office/officeart/2024/3/layout/hArchList1"/>
    <dgm:cxn modelId="{DB703C6A-9838-9448-AF73-08C86DA15B61}" type="presParOf" srcId="{7DD8AF84-A144-C948-A558-A16CC1E4B963}" destId="{081F65D0-3FB6-EE41-A8F1-1470C214CD88}" srcOrd="1" destOrd="0" presId="urn:microsoft.com/office/officeart/2024/3/layout/hArchList1"/>
    <dgm:cxn modelId="{2403A93F-1FC3-844D-B208-096A39F0A25D}" type="presParOf" srcId="{7DD8AF84-A144-C948-A558-A16CC1E4B963}" destId="{197F14E6-10EB-F146-9AD4-F2C077DF8F4D}" srcOrd="2" destOrd="0" presId="urn:microsoft.com/office/officeart/2024/3/layout/hArchList1"/>
    <dgm:cxn modelId="{7A4B2097-9F0D-934D-B7C9-2D21701A9A0E}" type="presParOf" srcId="{197F14E6-10EB-F146-9AD4-F2C077DF8F4D}" destId="{E3C516BF-8BF6-5F4F-BCCE-9933F6971788}" srcOrd="0" destOrd="0" presId="urn:microsoft.com/office/officeart/2024/3/layout/hArchList1"/>
    <dgm:cxn modelId="{28012057-3621-004E-8254-C40D35B7439C}" type="presParOf" srcId="{197F14E6-10EB-F146-9AD4-F2C077DF8F4D}" destId="{6B1A94A4-4CDB-8C45-9D22-182C9A4BD53F}" srcOrd="1" destOrd="0" presId="urn:microsoft.com/office/officeart/2024/3/layout/hArchList1"/>
    <dgm:cxn modelId="{44BEA33F-920B-2C4B-822A-AA14B8B031C8}" type="presParOf" srcId="{7DD8AF84-A144-C948-A558-A16CC1E4B963}" destId="{5F634B16-6079-4543-9E10-66445FD29C3D}" srcOrd="3" destOrd="0" presId="urn:microsoft.com/office/officeart/2024/3/layout/hArchList1"/>
    <dgm:cxn modelId="{67266207-955D-6A47-905A-1753F3C4B86E}" type="presParOf" srcId="{7DD8AF84-A144-C948-A558-A16CC1E4B963}" destId="{F4B4921C-5817-F649-970A-9B7AB21D0213}" srcOrd="4" destOrd="0" presId="urn:microsoft.com/office/officeart/2024/3/layout/hArchList1"/>
    <dgm:cxn modelId="{C866BB5F-FBE6-1B4F-A825-59480EC7673B}" type="presParOf" srcId="{F4B4921C-5817-F649-970A-9B7AB21D0213}" destId="{DFB3EC24-6C6D-9648-B8CF-B77F552223CC}" srcOrd="0" destOrd="0" presId="urn:microsoft.com/office/officeart/2024/3/layout/hArchList1"/>
    <dgm:cxn modelId="{E3C3D443-4CEF-AE4E-880E-429F44E27827}" type="presParOf" srcId="{F4B4921C-5817-F649-970A-9B7AB21D0213}" destId="{9A4CA995-4804-4D4B-88AF-7686C231FF1D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CD644C-D2C1-8A48-8D71-488491E3B7FD}" type="doc">
      <dgm:prSet loTypeId="urn:microsoft.com/office/officeart/2024/3/layout/BlockTimeline" loCatId="Timeline" qsTypeId="urn:microsoft.com/office/officeart/2005/8/quickstyle/simple1" qsCatId="simple" csTypeId="urn:microsoft.com/office/officeart/2005/8/colors/BlockTimelineDefaultColorVariant" csCatId="other" phldr="1"/>
      <dgm:spPr/>
      <dgm:t>
        <a:bodyPr/>
        <a:lstStyle/>
        <a:p>
          <a:endParaRPr lang="en-US"/>
        </a:p>
      </dgm:t>
    </dgm:pt>
    <dgm:pt modelId="{7C985698-B9F9-854B-B167-E9953EE64986}">
      <dgm:prSet custT="1"/>
      <dgm:spPr/>
      <dgm:t>
        <a:bodyPr/>
        <a:lstStyle/>
        <a:p>
          <a:pPr>
            <a:defRPr b="1"/>
          </a:pPr>
          <a:r>
            <a:rPr lang="en-US" sz="1050" dirty="0"/>
            <a:t>Cumulative Proportion</a:t>
          </a:r>
        </a:p>
      </dgm:t>
    </dgm:pt>
    <dgm:pt modelId="{CD358DB7-B8A1-364B-8F69-499633A6094A}" type="parTrans" cxnId="{92703D8B-BF2A-5C46-905C-6FD095736C4A}">
      <dgm:prSet/>
      <dgm:spPr/>
      <dgm:t>
        <a:bodyPr/>
        <a:lstStyle/>
        <a:p>
          <a:endParaRPr lang="en-US"/>
        </a:p>
      </dgm:t>
    </dgm:pt>
    <dgm:pt modelId="{DA662143-2FA0-CF4C-82A1-3B954E577493}" type="sibTrans" cxnId="{92703D8B-BF2A-5C46-905C-6FD095736C4A}">
      <dgm:prSet/>
      <dgm:spPr/>
      <dgm:t>
        <a:bodyPr/>
        <a:lstStyle/>
        <a:p>
          <a:endParaRPr lang="en-US"/>
        </a:p>
      </dgm:t>
    </dgm:pt>
    <dgm:pt modelId="{F34CB92F-DF17-634B-812A-4714601CC3E9}">
      <dgm:prSet custT="1"/>
      <dgm:spPr/>
      <dgm:t>
        <a:bodyPr/>
        <a:lstStyle/>
        <a:p>
          <a:r>
            <a:rPr lang="en-US" sz="1200" b="0" i="0" dirty="0"/>
            <a:t>Directly standardized cumulative incidence of first diagnosis by age in each of 16 body systems, ADHD (n=573) vs NT (n=1,852), with bootstrap CIs.</a:t>
          </a:r>
          <a:endParaRPr lang="en-US" sz="1200" dirty="0"/>
        </a:p>
      </dgm:t>
    </dgm:pt>
    <dgm:pt modelId="{0F6AF4DB-D903-9346-A6F3-E9FD0EA58C33}" type="parTrans" cxnId="{59A935B0-ACF3-6342-8542-F3E7218286EF}">
      <dgm:prSet/>
      <dgm:spPr/>
      <dgm:t>
        <a:bodyPr/>
        <a:lstStyle/>
        <a:p>
          <a:endParaRPr lang="en-US"/>
        </a:p>
      </dgm:t>
    </dgm:pt>
    <dgm:pt modelId="{B53E94CC-328D-BB4A-84AE-380261C33E70}" type="sibTrans" cxnId="{59A935B0-ACF3-6342-8542-F3E7218286EF}">
      <dgm:prSet/>
      <dgm:spPr/>
      <dgm:t>
        <a:bodyPr/>
        <a:lstStyle/>
        <a:p>
          <a:endParaRPr lang="en-US"/>
        </a:p>
      </dgm:t>
    </dgm:pt>
    <dgm:pt modelId="{70028A51-99C2-FC4A-9A28-1E504CD7E363}">
      <dgm:prSet custT="1"/>
      <dgm:spPr/>
      <dgm:t>
        <a:bodyPr/>
        <a:lstStyle/>
        <a:p>
          <a:pPr>
            <a:defRPr b="1"/>
          </a:pPr>
          <a:r>
            <a:rPr lang="en-US" sz="1050" dirty="0"/>
            <a:t>First Diagnosis</a:t>
          </a:r>
        </a:p>
      </dgm:t>
    </dgm:pt>
    <dgm:pt modelId="{1613F3E3-F828-F646-9671-819D3495CD13}" type="parTrans" cxnId="{A3831213-CBE8-244D-8AD9-8172FDAA7110}">
      <dgm:prSet/>
      <dgm:spPr/>
      <dgm:t>
        <a:bodyPr/>
        <a:lstStyle/>
        <a:p>
          <a:endParaRPr lang="en-US"/>
        </a:p>
      </dgm:t>
    </dgm:pt>
    <dgm:pt modelId="{225662D7-70B0-5245-A8E9-3726DECC680B}" type="sibTrans" cxnId="{A3831213-CBE8-244D-8AD9-8172FDAA7110}">
      <dgm:prSet/>
      <dgm:spPr/>
      <dgm:t>
        <a:bodyPr/>
        <a:lstStyle/>
        <a:p>
          <a:endParaRPr lang="en-US"/>
        </a:p>
      </dgm:t>
    </dgm:pt>
    <dgm:pt modelId="{80FCC04A-DDDC-B345-B667-C3EAD4A15ED5}">
      <dgm:prSet custT="1"/>
      <dgm:spPr/>
      <dgm:t>
        <a:bodyPr/>
        <a:lstStyle/>
        <a:p>
          <a:r>
            <a:rPr lang="en-US" sz="1200" b="0" i="0" dirty="0"/>
            <a:t>Median age (IQR) at first diagnosis per system, ADHD vs NT — referenced to the median ADHD diagnosis age (7.1y) to separate pre- from post-diagnosis onset.</a:t>
          </a:r>
          <a:endParaRPr lang="en-US" sz="1200" dirty="0"/>
        </a:p>
      </dgm:t>
    </dgm:pt>
    <dgm:pt modelId="{2FCF9158-03DE-3B4C-8925-C9F6FC6D190A}" type="parTrans" cxnId="{8CC2D888-E793-8744-8272-3E7B54162652}">
      <dgm:prSet/>
      <dgm:spPr/>
      <dgm:t>
        <a:bodyPr/>
        <a:lstStyle/>
        <a:p>
          <a:endParaRPr lang="en-US"/>
        </a:p>
      </dgm:t>
    </dgm:pt>
    <dgm:pt modelId="{ADDEB705-EFD8-8F4B-8CEE-568B45F7B459}" type="sibTrans" cxnId="{8CC2D888-E793-8744-8272-3E7B54162652}">
      <dgm:prSet/>
      <dgm:spPr/>
      <dgm:t>
        <a:bodyPr/>
        <a:lstStyle/>
        <a:p>
          <a:endParaRPr lang="en-US"/>
        </a:p>
      </dgm:t>
    </dgm:pt>
    <dgm:pt modelId="{F66859BC-2D50-B343-B5C9-5A8E75704F27}">
      <dgm:prSet custT="1"/>
      <dgm:spPr/>
      <dgm:t>
        <a:bodyPr/>
        <a:lstStyle/>
        <a:p>
          <a:pPr>
            <a:defRPr b="1"/>
          </a:pPr>
          <a:r>
            <a:rPr lang="en-US" sz="1050" dirty="0"/>
            <a:t>Developmental Pattern</a:t>
          </a:r>
        </a:p>
      </dgm:t>
    </dgm:pt>
    <dgm:pt modelId="{85B4B920-02B2-8F49-8FA7-A1FD45CC6C46}" type="parTrans" cxnId="{C67CB13B-0F59-624D-8C7C-44004A6118A9}">
      <dgm:prSet/>
      <dgm:spPr/>
      <dgm:t>
        <a:bodyPr/>
        <a:lstStyle/>
        <a:p>
          <a:endParaRPr lang="en-US"/>
        </a:p>
      </dgm:t>
    </dgm:pt>
    <dgm:pt modelId="{2E8974F8-D3BA-5C4F-85A5-876FF625E01F}" type="sibTrans" cxnId="{C67CB13B-0F59-624D-8C7C-44004A6118A9}">
      <dgm:prSet/>
      <dgm:spPr/>
      <dgm:t>
        <a:bodyPr/>
        <a:lstStyle/>
        <a:p>
          <a:endParaRPr lang="en-US"/>
        </a:p>
      </dgm:t>
    </dgm:pt>
    <dgm:pt modelId="{E8DAB9CB-B233-8441-B147-09FAF04E31D6}">
      <dgm:prSet custT="1"/>
      <dgm:spPr/>
      <dgm:t>
        <a:bodyPr/>
        <a:lstStyle/>
        <a:p>
          <a:r>
            <a:rPr lang="en-US" sz="1200" b="0" i="0" dirty="0"/>
            <a:t>Standardized ADHD−NT prevalence difference for each condition across developmental windows, showing </a:t>
          </a:r>
          <a:r>
            <a:rPr lang="en-US" sz="1200" b="0" i="1" dirty="0"/>
            <a:t>when</a:t>
          </a:r>
          <a:r>
            <a:rPr lang="en-US" sz="1200" b="0" i="0" dirty="0"/>
            <a:t> each gap emerges relative to diagnosis.</a:t>
          </a:r>
          <a:endParaRPr lang="en-US" sz="1200" dirty="0"/>
        </a:p>
      </dgm:t>
    </dgm:pt>
    <dgm:pt modelId="{D8367225-5C27-BB4B-B036-1FEFE9539A77}" type="parTrans" cxnId="{176AFD6A-284B-8B4D-81C1-4FCCBF244987}">
      <dgm:prSet/>
      <dgm:spPr/>
      <dgm:t>
        <a:bodyPr/>
        <a:lstStyle/>
        <a:p>
          <a:endParaRPr lang="en-US"/>
        </a:p>
      </dgm:t>
    </dgm:pt>
    <dgm:pt modelId="{1071505E-F7A2-6F46-9665-A8655128D966}" type="sibTrans" cxnId="{176AFD6A-284B-8B4D-81C1-4FCCBF244987}">
      <dgm:prSet/>
      <dgm:spPr/>
      <dgm:t>
        <a:bodyPr/>
        <a:lstStyle/>
        <a:p>
          <a:endParaRPr lang="en-US"/>
        </a:p>
      </dgm:t>
    </dgm:pt>
    <dgm:pt modelId="{EEE476AF-7A02-E54D-8E43-7C206A33FE7A}">
      <dgm:prSet custT="1"/>
      <dgm:spPr/>
      <dgm:t>
        <a:bodyPr/>
        <a:lstStyle/>
        <a:p>
          <a:pPr>
            <a:defRPr b="1"/>
          </a:pPr>
          <a:r>
            <a:rPr lang="en-US" sz="1200" dirty="0"/>
            <a:t>NMF</a:t>
          </a:r>
        </a:p>
      </dgm:t>
    </dgm:pt>
    <dgm:pt modelId="{A8F6949E-D0ED-674D-9511-2290447E2C67}" type="parTrans" cxnId="{6EEC5CF0-6C04-4C45-A5DB-95EA43F36113}">
      <dgm:prSet/>
      <dgm:spPr/>
      <dgm:t>
        <a:bodyPr/>
        <a:lstStyle/>
        <a:p>
          <a:endParaRPr lang="en-US"/>
        </a:p>
      </dgm:t>
    </dgm:pt>
    <dgm:pt modelId="{10DDC19B-1691-3545-8CA1-B845C82B1504}" type="sibTrans" cxnId="{6EEC5CF0-6C04-4C45-A5DB-95EA43F36113}">
      <dgm:prSet/>
      <dgm:spPr/>
      <dgm:t>
        <a:bodyPr/>
        <a:lstStyle/>
        <a:p>
          <a:endParaRPr lang="en-US"/>
        </a:p>
      </dgm:t>
    </dgm:pt>
    <dgm:pt modelId="{76E3F5E4-2EDA-E14F-B802-BE94CE411606}">
      <dgm:prSet custT="1"/>
      <dgm:spPr/>
      <dgm:t>
        <a:bodyPr/>
        <a:lstStyle/>
        <a:p>
          <a:r>
            <a:rPr lang="en-US" sz="1100" b="0" i="0" dirty="0"/>
            <a:t>Non-negative matrix factorization on the NT-residualized condition matrix, isolating ADHD-specific structure. K chosen by split-half stability; each child receives continuous loadings on all profiles.</a:t>
          </a:r>
          <a:endParaRPr lang="en-US" sz="1100" dirty="0"/>
        </a:p>
      </dgm:t>
    </dgm:pt>
    <dgm:pt modelId="{C8C5E419-ED1E-9844-90D1-12A8A3BBF012}" type="parTrans" cxnId="{EA940195-C718-564D-98E0-D9379A4D13B4}">
      <dgm:prSet/>
      <dgm:spPr/>
      <dgm:t>
        <a:bodyPr/>
        <a:lstStyle/>
        <a:p>
          <a:endParaRPr lang="en-US"/>
        </a:p>
      </dgm:t>
    </dgm:pt>
    <dgm:pt modelId="{D9C44359-15D0-EA4E-8CEF-ADF2202CB7EE}" type="sibTrans" cxnId="{EA940195-C718-564D-98E0-D9379A4D13B4}">
      <dgm:prSet/>
      <dgm:spPr/>
      <dgm:t>
        <a:bodyPr/>
        <a:lstStyle/>
        <a:p>
          <a:endParaRPr lang="en-US"/>
        </a:p>
      </dgm:t>
    </dgm:pt>
    <dgm:pt modelId="{549A1487-F0D4-7C4F-86CC-8764F9C52B16}">
      <dgm:prSet/>
      <dgm:spPr/>
      <dgm:t>
        <a:bodyPr/>
        <a:lstStyle/>
        <a:p>
          <a:pPr>
            <a:defRPr b="1"/>
          </a:pPr>
          <a:r>
            <a:rPr lang="en-US" dirty="0"/>
            <a:t>Clinical Characterization</a:t>
          </a:r>
        </a:p>
      </dgm:t>
    </dgm:pt>
    <dgm:pt modelId="{D2785FD1-68F1-5643-BD79-0E5D7BC678E7}" type="parTrans" cxnId="{06D82ADD-A65A-104F-A71B-356C5129D6F2}">
      <dgm:prSet/>
      <dgm:spPr/>
      <dgm:t>
        <a:bodyPr/>
        <a:lstStyle/>
        <a:p>
          <a:endParaRPr lang="en-US"/>
        </a:p>
      </dgm:t>
    </dgm:pt>
    <dgm:pt modelId="{154E7095-EB5A-6543-9685-C6A6069F344D}" type="sibTrans" cxnId="{06D82ADD-A65A-104F-A71B-356C5129D6F2}">
      <dgm:prSet/>
      <dgm:spPr/>
      <dgm:t>
        <a:bodyPr/>
        <a:lstStyle/>
        <a:p>
          <a:endParaRPr lang="en-US"/>
        </a:p>
      </dgm:t>
    </dgm:pt>
    <dgm:pt modelId="{AD73A086-7352-0E4A-838A-1A1F5E562921}">
      <dgm:prSet custT="1"/>
      <dgm:spPr/>
      <dgm:t>
        <a:bodyPr/>
        <a:lstStyle/>
        <a:p>
          <a:r>
            <a:rPr lang="en-US" sz="1200" b="0" i="0" dirty="0"/>
            <a:t>Regress each child's profile loadings on the prenatal/perinatal panel (adjusted for sex, race, education; FDR-corrected) to define each profile's early-life exposure signature.</a:t>
          </a:r>
          <a:endParaRPr lang="en-US" sz="1200" dirty="0"/>
        </a:p>
      </dgm:t>
    </dgm:pt>
    <dgm:pt modelId="{288CB560-40AD-5A44-A08B-CC66B31B3A19}" type="parTrans" cxnId="{A48379B1-82CA-EC40-8552-09D8AD471C19}">
      <dgm:prSet/>
      <dgm:spPr/>
      <dgm:t>
        <a:bodyPr/>
        <a:lstStyle/>
        <a:p>
          <a:endParaRPr lang="en-US"/>
        </a:p>
      </dgm:t>
    </dgm:pt>
    <dgm:pt modelId="{B318E000-85E8-C848-A3DF-CC38CBE2B392}" type="sibTrans" cxnId="{A48379B1-82CA-EC40-8552-09D8AD471C19}">
      <dgm:prSet/>
      <dgm:spPr/>
      <dgm:t>
        <a:bodyPr/>
        <a:lstStyle/>
        <a:p>
          <a:endParaRPr lang="en-US"/>
        </a:p>
      </dgm:t>
    </dgm:pt>
    <dgm:pt modelId="{0145ACFA-CDE4-9043-950D-58AB201F37EB}" type="pres">
      <dgm:prSet presAssocID="{66CD644C-D2C1-8A48-8D71-488491E3B7FD}" presName="Name0" presStyleCnt="0">
        <dgm:presLayoutVars>
          <dgm:chMax/>
          <dgm:chPref/>
          <dgm:animLvl val="lvl"/>
        </dgm:presLayoutVars>
      </dgm:prSet>
      <dgm:spPr/>
    </dgm:pt>
    <dgm:pt modelId="{AE959860-FF78-2342-A232-72B65118C5B7}" type="pres">
      <dgm:prSet presAssocID="{7C985698-B9F9-854B-B167-E9953EE64986}" presName="composite" presStyleCnt="0"/>
      <dgm:spPr/>
    </dgm:pt>
    <dgm:pt modelId="{3957F06A-5A32-F54E-B6B2-CF7C1B86C348}" type="pres">
      <dgm:prSet presAssocID="{7C985698-B9F9-854B-B167-E9953EE64986}" presName="Parent1" presStyleLbl="alignNode1" presStyleIdx="0" presStyleCnt="5">
        <dgm:presLayoutVars>
          <dgm:chMax val="1"/>
          <dgm:chPref val="1"/>
          <dgm:bulletEnabled val="1"/>
        </dgm:presLayoutVars>
      </dgm:prSet>
      <dgm:spPr/>
    </dgm:pt>
    <dgm:pt modelId="{AECF8EA6-36F1-AB4F-A84C-1C6780A30CB3}" type="pres">
      <dgm:prSet presAssocID="{7C985698-B9F9-854B-B167-E9953EE64986}" presName="Childtext1" presStyleLbl="revTx" presStyleIdx="0" presStyleCnt="5">
        <dgm:presLayoutVars>
          <dgm:chMax val="0"/>
          <dgm:chPref val="0"/>
          <dgm:bulletEnabled/>
        </dgm:presLayoutVars>
      </dgm:prSet>
      <dgm:spPr/>
    </dgm:pt>
    <dgm:pt modelId="{ECAB4882-C0D5-EF48-A869-10EB744CCC4F}" type="pres">
      <dgm:prSet presAssocID="{7C985698-B9F9-854B-B167-E9953EE64986}" presName="ConnectLine" presStyleLbl="sibTrans1D1" presStyleIdx="0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14D9D3B-FEF3-B547-9BE9-5A863B5DB034}" type="pres">
      <dgm:prSet presAssocID="{7C985698-B9F9-854B-B167-E9953EE64986}" presName="EmptyPane" presStyleCnt="0"/>
      <dgm:spPr/>
    </dgm:pt>
    <dgm:pt modelId="{D23E78DC-C51C-344A-8F65-CBA0841DCAE6}" type="pres">
      <dgm:prSet presAssocID="{DA662143-2FA0-CF4C-82A1-3B954E577493}" presName="spaceBetweenRectangles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EFB4054-A0E7-3B49-B527-50892D8C78C6}" type="pres">
      <dgm:prSet presAssocID="{70028A51-99C2-FC4A-9A28-1E504CD7E363}" presName="composite" presStyleCnt="0"/>
      <dgm:spPr/>
    </dgm:pt>
    <dgm:pt modelId="{77978A4F-0343-1140-B8F4-CD3C48FEA010}" type="pres">
      <dgm:prSet presAssocID="{70028A51-99C2-FC4A-9A28-1E504CD7E363}" presName="Parent1" presStyleLbl="alignNode1" presStyleIdx="1" presStyleCnt="5">
        <dgm:presLayoutVars>
          <dgm:chMax val="1"/>
          <dgm:chPref val="1"/>
          <dgm:bulletEnabled val="1"/>
        </dgm:presLayoutVars>
      </dgm:prSet>
      <dgm:spPr/>
    </dgm:pt>
    <dgm:pt modelId="{1B17940F-931D-674A-B481-72B61E6BD39D}" type="pres">
      <dgm:prSet presAssocID="{70028A51-99C2-FC4A-9A28-1E504CD7E363}" presName="Childtext1" presStyleLbl="revTx" presStyleIdx="1" presStyleCnt="5">
        <dgm:presLayoutVars>
          <dgm:chMax val="0"/>
          <dgm:chPref val="0"/>
          <dgm:bulletEnabled/>
        </dgm:presLayoutVars>
      </dgm:prSet>
      <dgm:spPr/>
    </dgm:pt>
    <dgm:pt modelId="{DCA00403-1C90-DA48-BDA0-C8767BE69C19}" type="pres">
      <dgm:prSet presAssocID="{70028A51-99C2-FC4A-9A28-1E504CD7E363}" presName="ConnectLine" presStyleLbl="sibTrans1D1" presStyleIdx="1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A260922F-02B1-7B4D-924C-766046001ECA}" type="pres">
      <dgm:prSet presAssocID="{70028A51-99C2-FC4A-9A28-1E504CD7E363}" presName="EmptyPane" presStyleCnt="0"/>
      <dgm:spPr/>
    </dgm:pt>
    <dgm:pt modelId="{87C8F2D4-961D-9D47-9774-DA4290B2CCB6}" type="pres">
      <dgm:prSet presAssocID="{225662D7-70B0-5245-A8E9-3726DECC680B}" presName="spaceBetweenRectangles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C3A0F898-83A0-0D45-AC59-6276BD8C01C8}" type="pres">
      <dgm:prSet presAssocID="{F66859BC-2D50-B343-B5C9-5A8E75704F27}" presName="composite" presStyleCnt="0"/>
      <dgm:spPr/>
    </dgm:pt>
    <dgm:pt modelId="{AA9B580E-6572-9D40-9738-673BF794FC8F}" type="pres">
      <dgm:prSet presAssocID="{F66859BC-2D50-B343-B5C9-5A8E75704F27}" presName="Parent1" presStyleLbl="alignNode1" presStyleIdx="2" presStyleCnt="5">
        <dgm:presLayoutVars>
          <dgm:chMax val="1"/>
          <dgm:chPref val="1"/>
          <dgm:bulletEnabled val="1"/>
        </dgm:presLayoutVars>
      </dgm:prSet>
      <dgm:spPr/>
    </dgm:pt>
    <dgm:pt modelId="{6229E5F7-43D1-C94B-BE03-3E0ACFC377BD}" type="pres">
      <dgm:prSet presAssocID="{F66859BC-2D50-B343-B5C9-5A8E75704F27}" presName="Childtext1" presStyleLbl="revTx" presStyleIdx="2" presStyleCnt="5">
        <dgm:presLayoutVars>
          <dgm:chMax val="0"/>
          <dgm:chPref val="0"/>
          <dgm:bulletEnabled/>
        </dgm:presLayoutVars>
      </dgm:prSet>
      <dgm:spPr/>
    </dgm:pt>
    <dgm:pt modelId="{E0F412E8-B375-8E4D-AF12-2D774E5B0E32}" type="pres">
      <dgm:prSet presAssocID="{F66859BC-2D50-B343-B5C9-5A8E75704F27}" presName="ConnectLine" presStyleLbl="sibTrans1D1" presStyleIdx="2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A198010C-50DE-D54C-8110-CD03F6DBFBB0}" type="pres">
      <dgm:prSet presAssocID="{F66859BC-2D50-B343-B5C9-5A8E75704F27}" presName="EmptyPane" presStyleCnt="0"/>
      <dgm:spPr/>
    </dgm:pt>
    <dgm:pt modelId="{25B1693C-EB29-9744-A619-E2B26C191FA0}" type="pres">
      <dgm:prSet presAssocID="{2E8974F8-D3BA-5C4F-85A5-876FF625E01F}" presName="spaceBetweenRectangles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0A2A1BA2-7DAC-EC4F-B495-CE66D9388107}" type="pres">
      <dgm:prSet presAssocID="{EEE476AF-7A02-E54D-8E43-7C206A33FE7A}" presName="composite" presStyleCnt="0"/>
      <dgm:spPr/>
    </dgm:pt>
    <dgm:pt modelId="{6D61CCEC-61A1-7946-86A6-880ADC8C0BC3}" type="pres">
      <dgm:prSet presAssocID="{EEE476AF-7A02-E54D-8E43-7C206A33FE7A}" presName="Parent1" presStyleLbl="alignNode1" presStyleIdx="3" presStyleCnt="5">
        <dgm:presLayoutVars>
          <dgm:chMax val="1"/>
          <dgm:chPref val="1"/>
          <dgm:bulletEnabled val="1"/>
        </dgm:presLayoutVars>
      </dgm:prSet>
      <dgm:spPr/>
    </dgm:pt>
    <dgm:pt modelId="{26F3298E-916F-BA46-9E0C-8F5CC0987E7A}" type="pres">
      <dgm:prSet presAssocID="{EEE476AF-7A02-E54D-8E43-7C206A33FE7A}" presName="Childtext1" presStyleLbl="revTx" presStyleIdx="3" presStyleCnt="5">
        <dgm:presLayoutVars>
          <dgm:chMax val="0"/>
          <dgm:chPref val="0"/>
          <dgm:bulletEnabled/>
        </dgm:presLayoutVars>
      </dgm:prSet>
      <dgm:spPr/>
    </dgm:pt>
    <dgm:pt modelId="{34EDAFB6-E8B9-164A-9F5C-F3D929616234}" type="pres">
      <dgm:prSet presAssocID="{EEE476AF-7A02-E54D-8E43-7C206A33FE7A}" presName="ConnectLine" presStyleLbl="sibTrans1D1" presStyleIdx="3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D75B19A-2986-564F-A4B4-DF6750CB9B70}" type="pres">
      <dgm:prSet presAssocID="{EEE476AF-7A02-E54D-8E43-7C206A33FE7A}" presName="EmptyPane" presStyleCnt="0"/>
      <dgm:spPr/>
    </dgm:pt>
    <dgm:pt modelId="{3389ED0D-A8FF-EB43-83B5-050DD878427E}" type="pres">
      <dgm:prSet presAssocID="{10DDC19B-1691-3545-8CA1-B845C82B1504}" presName="spaceBetweenRectangles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3EC42D3-856C-9545-960D-D32D4A56943F}" type="pres">
      <dgm:prSet presAssocID="{549A1487-F0D4-7C4F-86CC-8764F9C52B16}" presName="composite" presStyleCnt="0"/>
      <dgm:spPr/>
    </dgm:pt>
    <dgm:pt modelId="{D477E35E-19B5-6749-9265-E279436668A3}" type="pres">
      <dgm:prSet presAssocID="{549A1487-F0D4-7C4F-86CC-8764F9C52B16}" presName="Parent1" presStyleLbl="alignNode1" presStyleIdx="4" presStyleCnt="5">
        <dgm:presLayoutVars>
          <dgm:chMax val="1"/>
          <dgm:chPref val="1"/>
          <dgm:bulletEnabled val="1"/>
        </dgm:presLayoutVars>
      </dgm:prSet>
      <dgm:spPr/>
    </dgm:pt>
    <dgm:pt modelId="{F291AA96-B1CE-024B-BD01-8B0277AB2FF3}" type="pres">
      <dgm:prSet presAssocID="{549A1487-F0D4-7C4F-86CC-8764F9C52B16}" presName="Childtext1" presStyleLbl="revTx" presStyleIdx="4" presStyleCnt="5">
        <dgm:presLayoutVars>
          <dgm:chMax val="0"/>
          <dgm:chPref val="0"/>
          <dgm:bulletEnabled/>
        </dgm:presLayoutVars>
      </dgm:prSet>
      <dgm:spPr/>
    </dgm:pt>
    <dgm:pt modelId="{ED0EE6BC-9D1F-D943-8802-2D406507CC28}" type="pres">
      <dgm:prSet presAssocID="{549A1487-F0D4-7C4F-86CC-8764F9C52B16}" presName="ConnectLine" presStyleLbl="sibTrans1D1" presStyleIdx="4" presStyleCnt="5"/>
      <dgm:spPr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F61A384-36D6-144D-AAFE-28099F1775D0}" type="pres">
      <dgm:prSet presAssocID="{549A1487-F0D4-7C4F-86CC-8764F9C52B16}" presName="EmptyPane" presStyleCnt="0"/>
      <dgm:spPr/>
    </dgm:pt>
  </dgm:ptLst>
  <dgm:cxnLst>
    <dgm:cxn modelId="{E2C1260B-FE83-0549-B2B5-CDFCC2D25C4E}" type="presOf" srcId="{AD73A086-7352-0E4A-838A-1A1F5E562921}" destId="{F291AA96-B1CE-024B-BD01-8B0277AB2FF3}" srcOrd="0" destOrd="0" presId="urn:microsoft.com/office/officeart/2024/3/layout/BlockTimeline"/>
    <dgm:cxn modelId="{71C5C70D-3E29-8146-AF02-B0F6D8ED6DFD}" type="presOf" srcId="{549A1487-F0D4-7C4F-86CC-8764F9C52B16}" destId="{D477E35E-19B5-6749-9265-E279436668A3}" srcOrd="0" destOrd="0" presId="urn:microsoft.com/office/officeart/2024/3/layout/BlockTimeline"/>
    <dgm:cxn modelId="{A3831213-CBE8-244D-8AD9-8172FDAA7110}" srcId="{66CD644C-D2C1-8A48-8D71-488491E3B7FD}" destId="{70028A51-99C2-FC4A-9A28-1E504CD7E363}" srcOrd="1" destOrd="0" parTransId="{1613F3E3-F828-F646-9671-819D3495CD13}" sibTransId="{225662D7-70B0-5245-A8E9-3726DECC680B}"/>
    <dgm:cxn modelId="{B3237422-3F76-5347-B2D6-CAF4AF43BDAA}" type="presOf" srcId="{7C985698-B9F9-854B-B167-E9953EE64986}" destId="{3957F06A-5A32-F54E-B6B2-CF7C1B86C348}" srcOrd="0" destOrd="0" presId="urn:microsoft.com/office/officeart/2024/3/layout/BlockTimeline"/>
    <dgm:cxn modelId="{47670623-AB3C-FD46-844A-09773A4EE396}" type="presOf" srcId="{E8DAB9CB-B233-8441-B147-09FAF04E31D6}" destId="{6229E5F7-43D1-C94B-BE03-3E0ACFC377BD}" srcOrd="0" destOrd="0" presId="urn:microsoft.com/office/officeart/2024/3/layout/BlockTimeline"/>
    <dgm:cxn modelId="{C7579732-B21C-EC47-A3BE-C84681F13CB4}" type="presOf" srcId="{80FCC04A-DDDC-B345-B667-C3EAD4A15ED5}" destId="{1B17940F-931D-674A-B481-72B61E6BD39D}" srcOrd="0" destOrd="0" presId="urn:microsoft.com/office/officeart/2024/3/layout/BlockTimeline"/>
    <dgm:cxn modelId="{C67CB13B-0F59-624D-8C7C-44004A6118A9}" srcId="{66CD644C-D2C1-8A48-8D71-488491E3B7FD}" destId="{F66859BC-2D50-B343-B5C9-5A8E75704F27}" srcOrd="2" destOrd="0" parTransId="{85B4B920-02B2-8F49-8FA7-A1FD45CC6C46}" sibTransId="{2E8974F8-D3BA-5C4F-85A5-876FF625E01F}"/>
    <dgm:cxn modelId="{DA69E53F-155D-6C4D-AF08-CBC11694772E}" type="presOf" srcId="{F66859BC-2D50-B343-B5C9-5A8E75704F27}" destId="{AA9B580E-6572-9D40-9738-673BF794FC8F}" srcOrd="0" destOrd="0" presId="urn:microsoft.com/office/officeart/2024/3/layout/BlockTimeline"/>
    <dgm:cxn modelId="{176AFD6A-284B-8B4D-81C1-4FCCBF244987}" srcId="{F66859BC-2D50-B343-B5C9-5A8E75704F27}" destId="{E8DAB9CB-B233-8441-B147-09FAF04E31D6}" srcOrd="0" destOrd="0" parTransId="{D8367225-5C27-BB4B-B036-1FEFE9539A77}" sibTransId="{1071505E-F7A2-6F46-9665-A8655128D966}"/>
    <dgm:cxn modelId="{8CC2D888-E793-8744-8272-3E7B54162652}" srcId="{70028A51-99C2-FC4A-9A28-1E504CD7E363}" destId="{80FCC04A-DDDC-B345-B667-C3EAD4A15ED5}" srcOrd="0" destOrd="0" parTransId="{2FCF9158-03DE-3B4C-8925-C9F6FC6D190A}" sibTransId="{ADDEB705-EFD8-8F4B-8CEE-568B45F7B459}"/>
    <dgm:cxn modelId="{92703D8B-BF2A-5C46-905C-6FD095736C4A}" srcId="{66CD644C-D2C1-8A48-8D71-488491E3B7FD}" destId="{7C985698-B9F9-854B-B167-E9953EE64986}" srcOrd="0" destOrd="0" parTransId="{CD358DB7-B8A1-364B-8F69-499633A6094A}" sibTransId="{DA662143-2FA0-CF4C-82A1-3B954E577493}"/>
    <dgm:cxn modelId="{69EF1B8E-2875-494A-A84B-8288D0533FF7}" type="presOf" srcId="{70028A51-99C2-FC4A-9A28-1E504CD7E363}" destId="{77978A4F-0343-1140-B8F4-CD3C48FEA010}" srcOrd="0" destOrd="0" presId="urn:microsoft.com/office/officeart/2024/3/layout/BlockTimeline"/>
    <dgm:cxn modelId="{EA940195-C718-564D-98E0-D9379A4D13B4}" srcId="{EEE476AF-7A02-E54D-8E43-7C206A33FE7A}" destId="{76E3F5E4-2EDA-E14F-B802-BE94CE411606}" srcOrd="0" destOrd="0" parTransId="{C8C5E419-ED1E-9844-90D1-12A8A3BBF012}" sibTransId="{D9C44359-15D0-EA4E-8CEF-ADF2202CB7EE}"/>
    <dgm:cxn modelId="{59A935B0-ACF3-6342-8542-F3E7218286EF}" srcId="{7C985698-B9F9-854B-B167-E9953EE64986}" destId="{F34CB92F-DF17-634B-812A-4714601CC3E9}" srcOrd="0" destOrd="0" parTransId="{0F6AF4DB-D903-9346-A6F3-E9FD0EA58C33}" sibTransId="{B53E94CC-328D-BB4A-84AE-380261C33E70}"/>
    <dgm:cxn modelId="{A48379B1-82CA-EC40-8552-09D8AD471C19}" srcId="{549A1487-F0D4-7C4F-86CC-8764F9C52B16}" destId="{AD73A086-7352-0E4A-838A-1A1F5E562921}" srcOrd="0" destOrd="0" parTransId="{288CB560-40AD-5A44-A08B-CC66B31B3A19}" sibTransId="{B318E000-85E8-C848-A3DF-CC38CBE2B392}"/>
    <dgm:cxn modelId="{217795B8-B2F5-9E4E-9249-E3FF3372CA66}" type="presOf" srcId="{76E3F5E4-2EDA-E14F-B802-BE94CE411606}" destId="{26F3298E-916F-BA46-9E0C-8F5CC0987E7A}" srcOrd="0" destOrd="0" presId="urn:microsoft.com/office/officeart/2024/3/layout/BlockTimeline"/>
    <dgm:cxn modelId="{06D82ADD-A65A-104F-A71B-356C5129D6F2}" srcId="{66CD644C-D2C1-8A48-8D71-488491E3B7FD}" destId="{549A1487-F0D4-7C4F-86CC-8764F9C52B16}" srcOrd="4" destOrd="0" parTransId="{D2785FD1-68F1-5643-BD79-0E5D7BC678E7}" sibTransId="{154E7095-EB5A-6543-9685-C6A6069F344D}"/>
    <dgm:cxn modelId="{A40021E4-2DF1-664D-BF56-82E02558BDEB}" type="presOf" srcId="{66CD644C-D2C1-8A48-8D71-488491E3B7FD}" destId="{0145ACFA-CDE4-9043-950D-58AB201F37EB}" srcOrd="0" destOrd="0" presId="urn:microsoft.com/office/officeart/2024/3/layout/BlockTimeline"/>
    <dgm:cxn modelId="{6EEC5CF0-6C04-4C45-A5DB-95EA43F36113}" srcId="{66CD644C-D2C1-8A48-8D71-488491E3B7FD}" destId="{EEE476AF-7A02-E54D-8E43-7C206A33FE7A}" srcOrd="3" destOrd="0" parTransId="{A8F6949E-D0ED-674D-9511-2290447E2C67}" sibTransId="{10DDC19B-1691-3545-8CA1-B845C82B1504}"/>
    <dgm:cxn modelId="{2E0C72F7-A2DC-CB48-93C4-B9B59C87E5B3}" type="presOf" srcId="{F34CB92F-DF17-634B-812A-4714601CC3E9}" destId="{AECF8EA6-36F1-AB4F-A84C-1C6780A30CB3}" srcOrd="0" destOrd="0" presId="urn:microsoft.com/office/officeart/2024/3/layout/BlockTimeline"/>
    <dgm:cxn modelId="{11A745F8-ED73-C840-A750-DE83DFC477FD}" type="presOf" srcId="{EEE476AF-7A02-E54D-8E43-7C206A33FE7A}" destId="{6D61CCEC-61A1-7946-86A6-880ADC8C0BC3}" srcOrd="0" destOrd="0" presId="urn:microsoft.com/office/officeart/2024/3/layout/BlockTimeline"/>
    <dgm:cxn modelId="{3FCC027B-9864-CD4A-8956-66549FC3BEAB}" type="presParOf" srcId="{0145ACFA-CDE4-9043-950D-58AB201F37EB}" destId="{AE959860-FF78-2342-A232-72B65118C5B7}" srcOrd="0" destOrd="0" presId="urn:microsoft.com/office/officeart/2024/3/layout/BlockTimeline"/>
    <dgm:cxn modelId="{78A30585-FE27-1C4D-A77D-25D9F909134B}" type="presParOf" srcId="{AE959860-FF78-2342-A232-72B65118C5B7}" destId="{3957F06A-5A32-F54E-B6B2-CF7C1B86C348}" srcOrd="0" destOrd="0" presId="urn:microsoft.com/office/officeart/2024/3/layout/BlockTimeline"/>
    <dgm:cxn modelId="{E77E5B4A-EACD-8E42-8AFD-45406EC3B5A8}" type="presParOf" srcId="{AE959860-FF78-2342-A232-72B65118C5B7}" destId="{AECF8EA6-36F1-AB4F-A84C-1C6780A30CB3}" srcOrd="1" destOrd="0" presId="urn:microsoft.com/office/officeart/2024/3/layout/BlockTimeline"/>
    <dgm:cxn modelId="{EDCD90F1-A4F9-DC45-95FD-7702A9C47268}" type="presParOf" srcId="{AE959860-FF78-2342-A232-72B65118C5B7}" destId="{ECAB4882-C0D5-EF48-A869-10EB744CCC4F}" srcOrd="2" destOrd="0" presId="urn:microsoft.com/office/officeart/2024/3/layout/BlockTimeline"/>
    <dgm:cxn modelId="{679CEECA-C7E6-364C-B8E8-4E27847C0C0B}" type="presParOf" srcId="{AE959860-FF78-2342-A232-72B65118C5B7}" destId="{414D9D3B-FEF3-B547-9BE9-5A863B5DB034}" srcOrd="3" destOrd="0" presId="urn:microsoft.com/office/officeart/2024/3/layout/BlockTimeline"/>
    <dgm:cxn modelId="{29B3AC6E-098F-B040-B777-66CBF83557DE}" type="presParOf" srcId="{0145ACFA-CDE4-9043-950D-58AB201F37EB}" destId="{D23E78DC-C51C-344A-8F65-CBA0841DCAE6}" srcOrd="1" destOrd="0" presId="urn:microsoft.com/office/officeart/2024/3/layout/BlockTimeline"/>
    <dgm:cxn modelId="{804D172D-32FE-6C49-99C3-ADD677E69265}" type="presParOf" srcId="{0145ACFA-CDE4-9043-950D-58AB201F37EB}" destId="{4EFB4054-A0E7-3B49-B527-50892D8C78C6}" srcOrd="2" destOrd="0" presId="urn:microsoft.com/office/officeart/2024/3/layout/BlockTimeline"/>
    <dgm:cxn modelId="{792FAA74-694A-1348-965C-A48FDE791EC2}" type="presParOf" srcId="{4EFB4054-A0E7-3B49-B527-50892D8C78C6}" destId="{77978A4F-0343-1140-B8F4-CD3C48FEA010}" srcOrd="0" destOrd="0" presId="urn:microsoft.com/office/officeart/2024/3/layout/BlockTimeline"/>
    <dgm:cxn modelId="{ADB6DB20-EE8E-594A-BD5A-E325FBA7FEF9}" type="presParOf" srcId="{4EFB4054-A0E7-3B49-B527-50892D8C78C6}" destId="{1B17940F-931D-674A-B481-72B61E6BD39D}" srcOrd="1" destOrd="0" presId="urn:microsoft.com/office/officeart/2024/3/layout/BlockTimeline"/>
    <dgm:cxn modelId="{D281B173-E6D3-304C-BE16-A3F007383BDF}" type="presParOf" srcId="{4EFB4054-A0E7-3B49-B527-50892D8C78C6}" destId="{DCA00403-1C90-DA48-BDA0-C8767BE69C19}" srcOrd="2" destOrd="0" presId="urn:microsoft.com/office/officeart/2024/3/layout/BlockTimeline"/>
    <dgm:cxn modelId="{E88581B8-94B3-A142-B584-C667ED0DBF6C}" type="presParOf" srcId="{4EFB4054-A0E7-3B49-B527-50892D8C78C6}" destId="{A260922F-02B1-7B4D-924C-766046001ECA}" srcOrd="3" destOrd="0" presId="urn:microsoft.com/office/officeart/2024/3/layout/BlockTimeline"/>
    <dgm:cxn modelId="{C1384EEB-7655-F042-9E96-B1C4281DB160}" type="presParOf" srcId="{0145ACFA-CDE4-9043-950D-58AB201F37EB}" destId="{87C8F2D4-961D-9D47-9774-DA4290B2CCB6}" srcOrd="3" destOrd="0" presId="urn:microsoft.com/office/officeart/2024/3/layout/BlockTimeline"/>
    <dgm:cxn modelId="{F6BADA3C-998C-C74B-B438-AA142EEC6C4E}" type="presParOf" srcId="{0145ACFA-CDE4-9043-950D-58AB201F37EB}" destId="{C3A0F898-83A0-0D45-AC59-6276BD8C01C8}" srcOrd="4" destOrd="0" presId="urn:microsoft.com/office/officeart/2024/3/layout/BlockTimeline"/>
    <dgm:cxn modelId="{47C41DE2-3A74-C646-9087-DEBCE959B285}" type="presParOf" srcId="{C3A0F898-83A0-0D45-AC59-6276BD8C01C8}" destId="{AA9B580E-6572-9D40-9738-673BF794FC8F}" srcOrd="0" destOrd="0" presId="urn:microsoft.com/office/officeart/2024/3/layout/BlockTimeline"/>
    <dgm:cxn modelId="{5E145B25-DD34-CB45-A238-E25DCD5DB80E}" type="presParOf" srcId="{C3A0F898-83A0-0D45-AC59-6276BD8C01C8}" destId="{6229E5F7-43D1-C94B-BE03-3E0ACFC377BD}" srcOrd="1" destOrd="0" presId="urn:microsoft.com/office/officeart/2024/3/layout/BlockTimeline"/>
    <dgm:cxn modelId="{74CE267A-2B0B-984E-9E06-F39C489385F9}" type="presParOf" srcId="{C3A0F898-83A0-0D45-AC59-6276BD8C01C8}" destId="{E0F412E8-B375-8E4D-AF12-2D774E5B0E32}" srcOrd="2" destOrd="0" presId="urn:microsoft.com/office/officeart/2024/3/layout/BlockTimeline"/>
    <dgm:cxn modelId="{AB1EE38E-7879-1145-888C-13E743A3C202}" type="presParOf" srcId="{C3A0F898-83A0-0D45-AC59-6276BD8C01C8}" destId="{A198010C-50DE-D54C-8110-CD03F6DBFBB0}" srcOrd="3" destOrd="0" presId="urn:microsoft.com/office/officeart/2024/3/layout/BlockTimeline"/>
    <dgm:cxn modelId="{AA464231-46BE-7841-ACBE-C6587F27C3BE}" type="presParOf" srcId="{0145ACFA-CDE4-9043-950D-58AB201F37EB}" destId="{25B1693C-EB29-9744-A619-E2B26C191FA0}" srcOrd="5" destOrd="0" presId="urn:microsoft.com/office/officeart/2024/3/layout/BlockTimeline"/>
    <dgm:cxn modelId="{0637F5DA-0244-1348-A52C-1A0AB559E47A}" type="presParOf" srcId="{0145ACFA-CDE4-9043-950D-58AB201F37EB}" destId="{0A2A1BA2-7DAC-EC4F-B495-CE66D9388107}" srcOrd="6" destOrd="0" presId="urn:microsoft.com/office/officeart/2024/3/layout/BlockTimeline"/>
    <dgm:cxn modelId="{976A9234-A340-7249-A11D-6D6B00E70AE4}" type="presParOf" srcId="{0A2A1BA2-7DAC-EC4F-B495-CE66D9388107}" destId="{6D61CCEC-61A1-7946-86A6-880ADC8C0BC3}" srcOrd="0" destOrd="0" presId="urn:microsoft.com/office/officeart/2024/3/layout/BlockTimeline"/>
    <dgm:cxn modelId="{625C223B-3C57-FC4E-88B2-F55AF095AC96}" type="presParOf" srcId="{0A2A1BA2-7DAC-EC4F-B495-CE66D9388107}" destId="{26F3298E-916F-BA46-9E0C-8F5CC0987E7A}" srcOrd="1" destOrd="0" presId="urn:microsoft.com/office/officeart/2024/3/layout/BlockTimeline"/>
    <dgm:cxn modelId="{62B7DE39-1294-7A44-9BBD-482CE6E9F8C3}" type="presParOf" srcId="{0A2A1BA2-7DAC-EC4F-B495-CE66D9388107}" destId="{34EDAFB6-E8B9-164A-9F5C-F3D929616234}" srcOrd="2" destOrd="0" presId="urn:microsoft.com/office/officeart/2024/3/layout/BlockTimeline"/>
    <dgm:cxn modelId="{87573D99-EF65-6C4A-8DB7-AF08C83AA965}" type="presParOf" srcId="{0A2A1BA2-7DAC-EC4F-B495-CE66D9388107}" destId="{2D75B19A-2986-564F-A4B4-DF6750CB9B70}" srcOrd="3" destOrd="0" presId="urn:microsoft.com/office/officeart/2024/3/layout/BlockTimeline"/>
    <dgm:cxn modelId="{3E5CAF3F-5D2C-BD4A-A339-834BC4A753B5}" type="presParOf" srcId="{0145ACFA-CDE4-9043-950D-58AB201F37EB}" destId="{3389ED0D-A8FF-EB43-83B5-050DD878427E}" srcOrd="7" destOrd="0" presId="urn:microsoft.com/office/officeart/2024/3/layout/BlockTimeline"/>
    <dgm:cxn modelId="{59DECEEE-C0E8-E54D-BA14-2B88C2DECFC5}" type="presParOf" srcId="{0145ACFA-CDE4-9043-950D-58AB201F37EB}" destId="{43EC42D3-856C-9545-960D-D32D4A56943F}" srcOrd="8" destOrd="0" presId="urn:microsoft.com/office/officeart/2024/3/layout/BlockTimeline"/>
    <dgm:cxn modelId="{6ABD2642-3E47-1F46-A300-85AC21BE9EED}" type="presParOf" srcId="{43EC42D3-856C-9545-960D-D32D4A56943F}" destId="{D477E35E-19B5-6749-9265-E279436668A3}" srcOrd="0" destOrd="0" presId="urn:microsoft.com/office/officeart/2024/3/layout/BlockTimeline"/>
    <dgm:cxn modelId="{0DA80301-97DB-8347-B6D5-C47CA56508D1}" type="presParOf" srcId="{43EC42D3-856C-9545-960D-D32D4A56943F}" destId="{F291AA96-B1CE-024B-BD01-8B0277AB2FF3}" srcOrd="1" destOrd="0" presId="urn:microsoft.com/office/officeart/2024/3/layout/BlockTimeline"/>
    <dgm:cxn modelId="{D281302B-B582-994D-847E-926E064639F4}" type="presParOf" srcId="{43EC42D3-856C-9545-960D-D32D4A56943F}" destId="{ED0EE6BC-9D1F-D943-8802-2D406507CC28}" srcOrd="2" destOrd="0" presId="urn:microsoft.com/office/officeart/2024/3/layout/BlockTimeline"/>
    <dgm:cxn modelId="{386BAA8E-A009-2D41-B243-185B88260066}" type="presParOf" srcId="{43EC42D3-856C-9545-960D-D32D4A56943F}" destId="{7F61A384-36D6-144D-AAFE-28099F1775D0}" srcOrd="3" destOrd="0" presId="urn:microsoft.com/office/officeart/2024/3/layout/Block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74664-473E-404D-B800-C7E0E3367AD3}">
      <dsp:nvSpPr>
        <dsp:cNvPr id="0" name=""/>
        <dsp:cNvSpPr/>
      </dsp:nvSpPr>
      <dsp:spPr>
        <a:xfrm>
          <a:off x="0" y="0"/>
          <a:ext cx="2264094" cy="60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Developmental Burden</a:t>
          </a:r>
        </a:p>
      </dsp:txBody>
      <dsp:txXfrm>
        <a:off x="0" y="0"/>
        <a:ext cx="2264094" cy="609407"/>
      </dsp:txXfrm>
    </dsp:sp>
    <dsp:sp modelId="{CF568F74-1421-D548-91CE-7C2C2DF62C8E}">
      <dsp:nvSpPr>
        <dsp:cNvPr id="0" name=""/>
        <dsp:cNvSpPr/>
      </dsp:nvSpPr>
      <dsp:spPr>
        <a:xfrm>
          <a:off x="0" y="609407"/>
          <a:ext cx="2264094" cy="2513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Determine whether ADHD carries an earlier and broader cross-system disease burden from birth to adolescence.</a:t>
          </a:r>
          <a:endParaRPr lang="en-US" sz="1400" kern="1200" dirty="0"/>
        </a:p>
      </dsp:txBody>
      <dsp:txXfrm>
        <a:off x="0" y="609407"/>
        <a:ext cx="2264094" cy="2513960"/>
      </dsp:txXfrm>
    </dsp:sp>
    <dsp:sp modelId="{E3C516BF-8BF6-5F4F-BCCE-9933F6971788}">
      <dsp:nvSpPr>
        <dsp:cNvPr id="0" name=""/>
        <dsp:cNvSpPr/>
      </dsp:nvSpPr>
      <dsp:spPr>
        <a:xfrm>
          <a:off x="2490504" y="0"/>
          <a:ext cx="2264094" cy="60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Multimorbidity Profile</a:t>
          </a:r>
        </a:p>
      </dsp:txBody>
      <dsp:txXfrm>
        <a:off x="2490504" y="0"/>
        <a:ext cx="2264094" cy="609407"/>
      </dsp:txXfrm>
    </dsp:sp>
    <dsp:sp modelId="{6B1A94A4-4CDB-8C45-9D22-182C9A4BD53F}">
      <dsp:nvSpPr>
        <dsp:cNvPr id="0" name=""/>
        <dsp:cNvSpPr/>
      </dsp:nvSpPr>
      <dsp:spPr>
        <a:xfrm>
          <a:off x="2490504" y="609407"/>
          <a:ext cx="2264094" cy="2513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Resolve that burden into distinct clinical profiles, testing whether ADHD multimorbidity is heterogeneous rather than uniformly high.</a:t>
          </a:r>
          <a:endParaRPr lang="en-US" sz="1400" kern="1200" dirty="0"/>
        </a:p>
      </dsp:txBody>
      <dsp:txXfrm>
        <a:off x="2490504" y="609407"/>
        <a:ext cx="2264094" cy="2513960"/>
      </dsp:txXfrm>
    </dsp:sp>
    <dsp:sp modelId="{DFB3EC24-6C6D-9648-B8CF-B77F552223CC}">
      <dsp:nvSpPr>
        <dsp:cNvPr id="0" name=""/>
        <dsp:cNvSpPr/>
      </dsp:nvSpPr>
      <dsp:spPr>
        <a:xfrm>
          <a:off x="4981008" y="0"/>
          <a:ext cx="2264094" cy="609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Early Life Origin</a:t>
          </a:r>
        </a:p>
      </dsp:txBody>
      <dsp:txXfrm>
        <a:off x="4981008" y="0"/>
        <a:ext cx="2264094" cy="609407"/>
      </dsp:txXfrm>
    </dsp:sp>
    <dsp:sp modelId="{9A4CA995-4804-4D4B-88AF-7686C231FF1D}">
      <dsp:nvSpPr>
        <dsp:cNvPr id="0" name=""/>
        <dsp:cNvSpPr/>
      </dsp:nvSpPr>
      <dsp:spPr>
        <a:xfrm>
          <a:off x="4981008" y="609407"/>
          <a:ext cx="2264094" cy="2513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Trace those profiles back to distinct prenatal exposures, linking later clinical heterogeneity to its origins at birth.</a:t>
          </a:r>
          <a:endParaRPr lang="en-US" sz="1400" kern="1200" dirty="0"/>
        </a:p>
      </dsp:txBody>
      <dsp:txXfrm>
        <a:off x="4981008" y="609407"/>
        <a:ext cx="2264094" cy="2513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7F06A-5A32-F54E-B6B2-CF7C1B86C348}">
      <dsp:nvSpPr>
        <dsp:cNvPr id="0" name=""/>
        <dsp:cNvSpPr/>
      </dsp:nvSpPr>
      <dsp:spPr>
        <a:xfrm>
          <a:off x="195802" y="2808305"/>
          <a:ext cx="1002613" cy="7659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50" kern="1200" dirty="0"/>
            <a:t>Cumulative Proportion</a:t>
          </a:r>
        </a:p>
      </dsp:txBody>
      <dsp:txXfrm>
        <a:off x="233190" y="2845693"/>
        <a:ext cx="927837" cy="691125"/>
      </dsp:txXfrm>
    </dsp:sp>
    <dsp:sp modelId="{AECF8EA6-36F1-AB4F-A84C-1C6780A30CB3}">
      <dsp:nvSpPr>
        <dsp:cNvPr id="0" name=""/>
        <dsp:cNvSpPr/>
      </dsp:nvSpPr>
      <dsp:spPr>
        <a:xfrm>
          <a:off x="850" y="0"/>
          <a:ext cx="1392519" cy="20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Directly standardized cumulative incidence of first diagnosis by age in each of 16 body systems, ADHD (n=573) vs NT (n=1,852), with bootstrap CIs.</a:t>
          </a:r>
          <a:endParaRPr lang="en-US" sz="1200" kern="1200" dirty="0"/>
        </a:p>
      </dsp:txBody>
      <dsp:txXfrm>
        <a:off x="850" y="0"/>
        <a:ext cx="1392519" cy="2042403"/>
      </dsp:txXfrm>
    </dsp:sp>
    <dsp:sp modelId="{D23E78DC-C51C-344A-8F65-CBA0841DCAE6}">
      <dsp:nvSpPr>
        <dsp:cNvPr id="0" name=""/>
        <dsp:cNvSpPr/>
      </dsp:nvSpPr>
      <dsp:spPr>
        <a:xfrm>
          <a:off x="1198416" y="3191256"/>
          <a:ext cx="38990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9905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B4882-C0D5-EF48-A869-10EB744CCC4F}">
      <dsp:nvSpPr>
        <dsp:cNvPr id="0" name=""/>
        <dsp:cNvSpPr/>
      </dsp:nvSpPr>
      <dsp:spPr>
        <a:xfrm>
          <a:off x="697109" y="2170054"/>
          <a:ext cx="0" cy="638251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978A4F-0343-1140-B8F4-CD3C48FEA010}">
      <dsp:nvSpPr>
        <dsp:cNvPr id="0" name=""/>
        <dsp:cNvSpPr/>
      </dsp:nvSpPr>
      <dsp:spPr>
        <a:xfrm>
          <a:off x="1588321" y="2808305"/>
          <a:ext cx="1002613" cy="7659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50" kern="1200" dirty="0"/>
            <a:t>First Diagnosis</a:t>
          </a:r>
        </a:p>
      </dsp:txBody>
      <dsp:txXfrm>
        <a:off x="1625709" y="2845693"/>
        <a:ext cx="927837" cy="691125"/>
      </dsp:txXfrm>
    </dsp:sp>
    <dsp:sp modelId="{1B17940F-931D-674A-B481-72B61E6BD39D}">
      <dsp:nvSpPr>
        <dsp:cNvPr id="0" name=""/>
        <dsp:cNvSpPr/>
      </dsp:nvSpPr>
      <dsp:spPr>
        <a:xfrm>
          <a:off x="1393369" y="4340108"/>
          <a:ext cx="1392519" cy="20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Median age (IQR) at first diagnosis per system, ADHD vs NT — referenced to the median ADHD diagnosis age (7.1y) to separate pre- from post-diagnosis onset.</a:t>
          </a:r>
          <a:endParaRPr lang="en-US" sz="1200" kern="1200" dirty="0"/>
        </a:p>
      </dsp:txBody>
      <dsp:txXfrm>
        <a:off x="1393369" y="4340108"/>
        <a:ext cx="1392519" cy="2042403"/>
      </dsp:txXfrm>
    </dsp:sp>
    <dsp:sp modelId="{87C8F2D4-961D-9D47-9774-DA4290B2CCB6}">
      <dsp:nvSpPr>
        <dsp:cNvPr id="0" name=""/>
        <dsp:cNvSpPr/>
      </dsp:nvSpPr>
      <dsp:spPr>
        <a:xfrm>
          <a:off x="2590935" y="3191256"/>
          <a:ext cx="38990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9905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00403-1C90-DA48-BDA0-C8767BE69C19}">
      <dsp:nvSpPr>
        <dsp:cNvPr id="0" name=""/>
        <dsp:cNvSpPr/>
      </dsp:nvSpPr>
      <dsp:spPr>
        <a:xfrm>
          <a:off x="2089628" y="3574206"/>
          <a:ext cx="0" cy="638251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9B580E-6572-9D40-9738-673BF794FC8F}">
      <dsp:nvSpPr>
        <dsp:cNvPr id="0" name=""/>
        <dsp:cNvSpPr/>
      </dsp:nvSpPr>
      <dsp:spPr>
        <a:xfrm>
          <a:off x="2980841" y="2808305"/>
          <a:ext cx="1002613" cy="7659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050" kern="1200" dirty="0"/>
            <a:t>Developmental Pattern</a:t>
          </a:r>
        </a:p>
      </dsp:txBody>
      <dsp:txXfrm>
        <a:off x="3018229" y="2845693"/>
        <a:ext cx="927837" cy="691125"/>
      </dsp:txXfrm>
    </dsp:sp>
    <dsp:sp modelId="{6229E5F7-43D1-C94B-BE03-3E0ACFC377BD}">
      <dsp:nvSpPr>
        <dsp:cNvPr id="0" name=""/>
        <dsp:cNvSpPr/>
      </dsp:nvSpPr>
      <dsp:spPr>
        <a:xfrm>
          <a:off x="2785888" y="0"/>
          <a:ext cx="1392519" cy="20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Standardized ADHD−NT prevalence difference for each condition across developmental windows, showing </a:t>
          </a:r>
          <a:r>
            <a:rPr lang="en-US" sz="1200" b="0" i="1" kern="1200" dirty="0"/>
            <a:t>when</a:t>
          </a:r>
          <a:r>
            <a:rPr lang="en-US" sz="1200" b="0" i="0" kern="1200" dirty="0"/>
            <a:t> each gap emerges relative to diagnosis.</a:t>
          </a:r>
          <a:endParaRPr lang="en-US" sz="1200" kern="1200" dirty="0"/>
        </a:p>
      </dsp:txBody>
      <dsp:txXfrm>
        <a:off x="2785888" y="0"/>
        <a:ext cx="1392519" cy="2042403"/>
      </dsp:txXfrm>
    </dsp:sp>
    <dsp:sp modelId="{25B1693C-EB29-9744-A619-E2B26C191FA0}">
      <dsp:nvSpPr>
        <dsp:cNvPr id="0" name=""/>
        <dsp:cNvSpPr/>
      </dsp:nvSpPr>
      <dsp:spPr>
        <a:xfrm>
          <a:off x="3983454" y="3191256"/>
          <a:ext cx="38990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9905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F412E8-B375-8E4D-AF12-2D774E5B0E32}">
      <dsp:nvSpPr>
        <dsp:cNvPr id="0" name=""/>
        <dsp:cNvSpPr/>
      </dsp:nvSpPr>
      <dsp:spPr>
        <a:xfrm>
          <a:off x="3482148" y="2170054"/>
          <a:ext cx="0" cy="638251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61CCEC-61A1-7946-86A6-880ADC8C0BC3}">
      <dsp:nvSpPr>
        <dsp:cNvPr id="0" name=""/>
        <dsp:cNvSpPr/>
      </dsp:nvSpPr>
      <dsp:spPr>
        <a:xfrm>
          <a:off x="4373360" y="2808305"/>
          <a:ext cx="1002613" cy="7659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 dirty="0"/>
            <a:t>NMF</a:t>
          </a:r>
        </a:p>
      </dsp:txBody>
      <dsp:txXfrm>
        <a:off x="4410748" y="2845693"/>
        <a:ext cx="927837" cy="691125"/>
      </dsp:txXfrm>
    </dsp:sp>
    <dsp:sp modelId="{26F3298E-916F-BA46-9E0C-8F5CC0987E7A}">
      <dsp:nvSpPr>
        <dsp:cNvPr id="0" name=""/>
        <dsp:cNvSpPr/>
      </dsp:nvSpPr>
      <dsp:spPr>
        <a:xfrm>
          <a:off x="4178407" y="4340108"/>
          <a:ext cx="1392519" cy="20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1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Non-negative matrix factorization on the NT-residualized condition matrix, isolating ADHD-specific structure. K chosen by split-half stability; each child receives continuous loadings on all profiles.</a:t>
          </a:r>
          <a:endParaRPr lang="en-US" sz="1100" kern="1200" dirty="0"/>
        </a:p>
      </dsp:txBody>
      <dsp:txXfrm>
        <a:off x="4178407" y="4340108"/>
        <a:ext cx="1392519" cy="2042403"/>
      </dsp:txXfrm>
    </dsp:sp>
    <dsp:sp modelId="{3389ED0D-A8FF-EB43-83B5-050DD878427E}">
      <dsp:nvSpPr>
        <dsp:cNvPr id="0" name=""/>
        <dsp:cNvSpPr/>
      </dsp:nvSpPr>
      <dsp:spPr>
        <a:xfrm>
          <a:off x="5375974" y="3191256"/>
          <a:ext cx="38990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9905" y="0"/>
              </a:lnTo>
            </a:path>
          </a:pathLst>
        </a:custGeom>
        <a:noFill/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DAFB6-E8B9-164A-9F5C-F3D929616234}">
      <dsp:nvSpPr>
        <dsp:cNvPr id="0" name=""/>
        <dsp:cNvSpPr/>
      </dsp:nvSpPr>
      <dsp:spPr>
        <a:xfrm>
          <a:off x="4874667" y="3574206"/>
          <a:ext cx="0" cy="638251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7E35E-19B5-6749-9265-E279436668A3}">
      <dsp:nvSpPr>
        <dsp:cNvPr id="0" name=""/>
        <dsp:cNvSpPr/>
      </dsp:nvSpPr>
      <dsp:spPr>
        <a:xfrm>
          <a:off x="5765879" y="2808305"/>
          <a:ext cx="1002613" cy="76590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700" kern="1200" dirty="0"/>
            <a:t>Clinical Characterization</a:t>
          </a:r>
        </a:p>
      </dsp:txBody>
      <dsp:txXfrm>
        <a:off x="5803267" y="2845693"/>
        <a:ext cx="927837" cy="691125"/>
      </dsp:txXfrm>
    </dsp:sp>
    <dsp:sp modelId="{F291AA96-B1CE-024B-BD01-8B0277AB2FF3}">
      <dsp:nvSpPr>
        <dsp:cNvPr id="0" name=""/>
        <dsp:cNvSpPr/>
      </dsp:nvSpPr>
      <dsp:spPr>
        <a:xfrm>
          <a:off x="5570926" y="0"/>
          <a:ext cx="1392519" cy="2042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Regress each child's profile loadings on the prenatal/perinatal panel (adjusted for sex, race, education; FDR-corrected) to define each profile's early-life exposure signature.</a:t>
          </a:r>
          <a:endParaRPr lang="en-US" sz="1200" kern="1200" dirty="0"/>
        </a:p>
      </dsp:txBody>
      <dsp:txXfrm>
        <a:off x="5570926" y="0"/>
        <a:ext cx="1392519" cy="2042403"/>
      </dsp:txXfrm>
    </dsp:sp>
    <dsp:sp modelId="{ED0EE6BC-9D1F-D943-8802-2D406507CC28}">
      <dsp:nvSpPr>
        <dsp:cNvPr id="0" name=""/>
        <dsp:cNvSpPr/>
      </dsp:nvSpPr>
      <dsp:spPr>
        <a:xfrm>
          <a:off x="6267186" y="2170054"/>
          <a:ext cx="0" cy="638251"/>
        </a:xfrm>
        <a:prstGeom prst="line">
          <a:avLst/>
        </a:pr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BlockTimeline">
  <dgm:title val="Block Timeline"/>
  <dgm:desc val="Displays events in chronological order. Each event should have a date of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animLvl val="lvl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1" val="16"/>
      <dgm:constr type="primFontSz" for="des" forName="Childtext1" val="14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w" for="ch" forName="spaceBetweenRectangles" refType="w" fact="0"/>
      <dgm:constr type="h" for="ch" forName="spaceBetweenRectangles" refType="h" fact="0"/>
      <dgm:constr type="primFontSz" for="des" forName="Parent1" op="equ"/>
      <dgm:constr type="primFontSz" for="des" forName="Childtext1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casesForSnakingLogic">
          <dgm:if name="Name7" axis="self" ptType="node" func="posOdd" op="equ" val="1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t" for="ch" forName="Childtext1" refType="h" fact="0"/>
              <dgm:constr type="w" for="ch" forName="ConnectLine"/>
              <dgm:constr type="h" for="ch" forName="ConnectLine" refType="h" fact="0.1"/>
              <dgm:constr type="b" for="ch" forName="ConnectLine" refType="t" refFor="ch" refForName="Parent1"/>
              <dgm:constr type="ctrX" for="ch" forName="ConnectLine" refType="w" fact="0.5"/>
              <dgm:constr type="w" for="ch" forName="EmptyPane" refType="w"/>
              <dgm:constr type="b" for="ch" forName="EmptyPane" refType="h"/>
              <dgm:constr type="h" for="ch" forName="EmptyPane" refType="h" fact="0.44"/>
            </dgm:constrLst>
          </dgm:if>
          <dgm:else name="Name8">
            <dgm:constrLst>
              <dgm:constr type="w" for="ch" forName="Parent1" refType="w" fact="0.72"/>
              <dgm:constr type="ctrY" for="ch" forName="Parent1" refType="h" fact="0.5"/>
              <dgm:constr type="h" for="ch" forName="Parent1" refType="h" fact="0.12"/>
              <dgm:constr type="l" for="ch" forName="Parent1" refType="w" fact="0.14"/>
              <dgm:constr type="w" for="ch" forName="Childtext1" refType="w"/>
              <dgm:constr type="h" for="ch" forName="Childtext1" refType="h" fact="0.32"/>
              <dgm:constr type="b" for="ch" forName="Childtext1" refType="h"/>
              <dgm:constr type="w" for="ch" forName="ConnectLine"/>
              <dgm:constr type="h" for="ch" forName="ConnectLine" refType="h" fact="0.1"/>
              <dgm:constr type="t" for="ch" forName="ConnectLine" refType="b" refFor="ch" refForName="Parent1"/>
              <dgm:constr type="ctrX" for="ch" forName="ConnectLine" refType="w" fact="0.5"/>
              <dgm:constr type="w" for="ch" forName="EmptyPane" refType="w"/>
              <dgm:constr type="h" for="ch" forName="EmptyPane" refType="h" fact="0.44"/>
            </dgm:constrLst>
          </dgm:else>
        </dgm:choose>
        <dgm:layoutNode name="Parent1" styleLbl="alignNode1">
          <dgm:varLst>
            <dgm:chMax val="1"/>
            <dgm:chPref val="1"/>
            <dgm:bulletEnabled val="1"/>
          </dgm:varLst>
          <dgm:alg type="tx"/>
          <dgm:choose name="casesForFirstAndLastNode">
            <dgm:if name="startNode" axis="self" ptType="node" func="pos" op="equ" val="1">
              <dgm:choose name="removeLineWhenOnlyOneNode">
                <dgm:if name="ifOnlyOneNode" axis="followSib" ptType="node" func="cnt" op="equ" val="0">
                  <dgm:shape xmlns:r="http://schemas.openxmlformats.org/officeDocument/2006/relationships" type="rect" r:blip="">
                    <dgm:adjLst/>
                  </dgm:shape>
                </dgm:if>
                <dgm:else name="ifMoreThanOneNode">
                  <dgm:choose name="Name18">
                    <dgm:if name="Name19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0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else>
              </dgm:choose>
            </dgm:if>
            <dgm:else name="notStartNode">
              <dgm:choose name="Name22">
                <dgm:if name="Name23" axis="self" ptType="node" func="revPos" op="equ" val="1">
                  <dgm:choose name="Name24">
                    <dgm:if name="Name25" func="var" arg="dir" op="equ" val="norm">
                      <dgm:shape xmlns:r="http://schemas.openxmlformats.org/officeDocument/2006/relationships" type="roundRect" r:blip="">
                        <dgm:adjLst/>
                      </dgm:shape>
                    </dgm:if>
                    <dgm:else name="Name26">
                      <dgm:shape xmlns:r="http://schemas.openxmlformats.org/officeDocument/2006/relationships" type="roundRect" r:blip="">
                        <dgm:adjLst/>
                      </dgm:shape>
                    </dgm:else>
                  </dgm:choose>
                </dgm:if>
                <dgm:else name="Name27">
                  <dgm:shape xmlns:r="http://schemas.openxmlformats.org/officeDocument/2006/relationships" type="roundRect" r:blip="">
                    <dgm:adjLst/>
                  </dgm:shape>
                </dgm:else>
              </dgm:choose>
            </dgm:else>
          </dgm:choose>
          <dgm:presOf axis="self" ptType="node"/>
          <dgm:constrLst>
            <dgm:constr type="lMarg" refType="primFontSz" fact="0.6"/>
            <dgm:constr type="rMarg" refType="primFontSz" fact="0.6"/>
            <dgm:constr type="tMarg" refType="primFontSz" fact="0.6"/>
            <dgm:constr type="bMarg" refType="primFontSz" fact="0.6"/>
          </dgm:constrLst>
          <dgm:ruleLst>
            <dgm:rule type="primFontSz" val="5" fact="NaN" max="NaN"/>
          </dgm:ruleLst>
        </dgm:layoutNode>
        <dgm:layoutNode name="Childtext1" styleLbl="revTx" moveWith="Parent1">
          <dgm:varLst>
            <dgm:chMax val="0"/>
            <dgm:chPref val="0"/>
            <dgm:bulletEnabled/>
          </dgm:varLst>
          <dgm:choose name="casesForTxtDirLogic1">
            <dgm:if name="Name77" axis="self" ptType="node" func="posOdd" op="equ" val="1">
              <dgm:alg type="tx">
                <dgm:param type="txAnchorVert" val="b"/>
                <dgm:param type="txAnchorHorz" val="ctr"/>
                <dgm:param type="parTxRTLAlign" val="ctr"/>
                <dgm:param type="parTxLTRAlign" val="ctr"/>
              </dgm:alg>
            </dgm:if>
            <dgm:else name="Name88">
              <dgm:alg type="tx">
                <dgm:param type="txAnchorVert" val="t"/>
                <dgm:param type="txAnchorHorz" val="ctr"/>
                <dgm:param type="parTxRTLAlign" val="ctr"/>
                <dgm:param type="parTxLTRAlign" val="ctr"/>
              </dgm:alg>
            </dgm:else>
          </dgm:choose>
          <dgm:shape xmlns:r="http://schemas.openxmlformats.org/officeDocument/2006/relationships" type="rect" r:blip="">
            <dgm:adjLst/>
          </dgm:shape>
          <dgm:constrLst>
            <dgm:constr type="lMarg"/>
            <dgm:constr type="rMarg"/>
            <dgm:constr type="tMarg" refType="primFontSz" fact="0"/>
            <dgm:constr type="bMarg" refType="primFontSz" fact="0"/>
          </dgm:constrLst>
          <dgm:presOf axis="ch" ptType="node"/>
          <dgm:ruleLst>
            <dgm:rule type="primFontSz" val="5" fact="NaN" max="NaN"/>
          </dgm:ruleLst>
        </dgm:layoutNode>
        <dgm:layoutNode name="ConnectLine" styleLbl="sibTrans1D1" moveWith="Parent1">
          <dgm:alg type="sp"/>
          <dgm:shape xmlns:r="http://schemas.openxmlformats.org/officeDocument/2006/relationships" type="line" r:blip="">
            <dgm:adjLst/>
            <dgm:extLst>
              <a:ext uri="{B698B0E9-8C71-41B9-8309-B3DCBF30829C}">
                <dgm1612:spPr xmlns:dgm1612="http://schemas.microsoft.com/office/drawing/2016/12/diagram">
                  <a:ln w="9525"/>
                </dgm1612:spPr>
              </a:ext>
            </dgm:extLst>
          </dgm:shape>
          <dgm:presOf/>
          <dgm:constrLst/>
        </dgm:layoutNode>
        <dgm:layoutNode name="EmptyPane" moveWith="Parent1">
          <dgm:alg type="sp"/>
          <dgm:shape xmlns:r="http://schemas.openxmlformats.org/officeDocument/2006/relationships" r:blip="">
            <dgm:adjLst/>
          </dgm:shape>
          <dgm:presOf/>
          <dgm:constrLst/>
        </dgm:layoutNode>
      </dgm:layoutNode>
      <dgm:forEach name="Name28" axis="followSib" ptType="sibTrans" cnt="1">
        <dgm:layoutNode name="spaceBetweenRectangles" styleLbl="fgAcc1">
          <dgm:alg type="conn">
            <dgm:param type="dim" val="1D"/>
            <dgm:param type="srcNode" val="Parent1"/>
            <dgm:param type="dstNode" val="Parent1"/>
            <dgm:param type="begPts" val="midR"/>
            <dgm:param type="endPts" val="midL"/>
            <dgm:param type="endSty" val="noArr"/>
          </dgm:alg>
          <dgm:shape xmlns:r="http://schemas.openxmlformats.org/officeDocument/2006/relationships" type="conn" r:blip="" zOrderOff="-2">
            <dgm:adjLst/>
            <dgm:extLst>
              <a:ext uri="{B698B0E9-8C71-41B9-8309-B3DCBF30829C}">
                <dgm1612:spPr xmlns:dgm1612="http://schemas.microsoft.com/office/drawing/2016/12/diagram">
                  <a:ln w="12700"/>
                </dgm1612:spPr>
              </a:ext>
            </dgm:extLst>
          </dgm:shape>
          <dgm:presOf/>
          <dgm:constrLst>
            <dgm:constr type="connDist"/>
            <dgm:constr type="begPad"/>
            <dgm:constr type="endPad"/>
          </dgm:constrLst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4-75954-5" TargetMode="External"/><Relationship Id="rId2" Type="http://schemas.openxmlformats.org/officeDocument/2006/relationships/hyperlink" Target="https://doi.org/10.1542/peds.105.5.1158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2BAE-B7C1-7062-8102-CA915736B3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ADHD Comorbidity Diary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C2735-86A4-A6C8-8700-210E5F14B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Linna Kuang</a:t>
            </a:r>
          </a:p>
        </p:txBody>
      </p:sp>
    </p:spTree>
    <p:extLst>
      <p:ext uri="{BB962C8B-B14F-4D97-AF65-F5344CB8AC3E}">
        <p14:creationId xmlns:p14="http://schemas.microsoft.com/office/powerpoint/2010/main" val="648993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4F4A1-146B-4D29-852A-F6099667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8889E-7F59-B35D-FA4C-BBFFB155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7/13/2026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C37D8-80E5-6C4C-1B15-0214C4B3A791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Stage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Stage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sTable 1 &amp; 2 range modification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Stage 2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762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4F4A1-146B-4D29-852A-F6099667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83CC34-0115-D692-6D89-5E4828CC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Aims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1384B0E-2737-AD21-CF48-BCA1B34A4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1178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3844616" y="2626840"/>
          <a:ext cx="7245103" cy="3131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622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4F4A1-146B-4D29-852A-F6099667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FC352-B256-F028-3932-0C8F17AF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3F5D9-7382-047D-2E8E-E0790D5256F1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pPr marL="468630" indent="-285750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Case - ADHD only: 573</a:t>
            </a:r>
          </a:p>
          <a:p>
            <a:pPr marL="468630" indent="-285750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 - NT: 1,851</a:t>
            </a:r>
          </a:p>
          <a:p>
            <a:pPr marL="468630" indent="-285750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 at ADHD Diagnosis: median 7.1yrs (31% by 6, 72% by 9)</a:t>
            </a:r>
          </a:p>
          <a:p>
            <a:pPr marL="468630" indent="-285750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Conditions: 132</a:t>
            </a:r>
          </a:p>
          <a:p>
            <a:pPr marL="468630" indent="-285750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34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55F7F3-3A58-4BBB-95C7-CF706F9F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E3D314-6F93-4D91-8C0F-E92657F46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DA579-7D8B-74F3-4C10-D1DF061D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Method</a:t>
            </a:r>
          </a:p>
        </p:txBody>
      </p:sp>
      <p:graphicFrame>
        <p:nvGraphicFramePr>
          <p:cNvPr id="5" name="Content Placeholder 4" descr="Basic Timeline">
            <a:extLst>
              <a:ext uri="{FF2B5EF4-FFF2-40B4-BE49-F238E27FC236}">
                <a16:creationId xmlns:a16="http://schemas.microsoft.com/office/drawing/2014/main" id="{737D69D2-7E8C-6589-E853-B79722B30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40157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4993008" y="237744"/>
          <a:ext cx="6964296" cy="6382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585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1EA411D-6E28-4C57-A156-E765F96C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CAD0080-888B-4F99-9CB6-DAD522FC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F13B21C-9EAE-4AEE-99C4-07E169E7B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3AF179-8820-AFF2-D3C2-8CAC4EBC2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480060"/>
            <a:ext cx="7465670" cy="29489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5B1799-C07A-418E-6A27-310620914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438" y="3378010"/>
            <a:ext cx="7894550" cy="299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42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6FB1BD-F1E6-9457-26B7-C8BC8CB5B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901" y="3262349"/>
            <a:ext cx="6158983" cy="3348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BCF0A1-2DCC-9149-4C9E-3B46F65DA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16" y="246795"/>
            <a:ext cx="6346048" cy="301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0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463B9A0-C42E-402C-9AD1-9DAE53361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69235B-22DB-4231-8291-D64DA2CDE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E40DA-1F5A-4A1A-89CA-2BC620DCD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F554E1-11FE-F378-0E09-BB67833D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28" y="1353119"/>
            <a:ext cx="10577744" cy="415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20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63B9A0-C42E-402C-9AD1-9DAE53361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69235B-22DB-4231-8291-D64DA2CDE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AE40DA-1F5A-4A1A-89CA-2BC620DCD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F1E70-D700-5DD7-C07F-997036E6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28" y="1604340"/>
            <a:ext cx="10577744" cy="364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4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285FD-37BA-321F-0FAF-A61DE05EC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98" y="232210"/>
            <a:ext cx="7586902" cy="63935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6CAC18-D6D7-5E3E-B452-B71EB1E62C3F}"/>
              </a:ext>
            </a:extLst>
          </p:cNvPr>
          <p:cNvSpPr txBox="1"/>
          <p:nvPr/>
        </p:nvSpPr>
        <p:spPr>
          <a:xfrm>
            <a:off x="8013700" y="2690335"/>
            <a:ext cx="38314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Profile 1: Musculoskeletal–injury</a:t>
            </a:r>
          </a:p>
          <a:p>
            <a:endParaRPr lang="en-US" b="1" dirty="0"/>
          </a:p>
          <a:p>
            <a:r>
              <a:rPr lang="en-US" b="1" dirty="0"/>
              <a:t>Profile 2: Psychiatric/internalizing</a:t>
            </a:r>
          </a:p>
          <a:p>
            <a:endParaRPr lang="en-US" b="1" dirty="0"/>
          </a:p>
          <a:p>
            <a:r>
              <a:rPr lang="en-US" b="1" dirty="0"/>
              <a:t>Profile 3: Atopic/ENT–infectious</a:t>
            </a:r>
          </a:p>
        </p:txBody>
      </p:sp>
    </p:spTree>
    <p:extLst>
      <p:ext uri="{BB962C8B-B14F-4D97-AF65-F5344CB8AC3E}">
        <p14:creationId xmlns:p14="http://schemas.microsoft.com/office/powerpoint/2010/main" val="362786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6363E7-9983-7AF8-1631-6632B440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726" y="239037"/>
            <a:ext cx="6754547" cy="63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569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813FA-287D-ED31-4E84-F9352D1E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09E310-C7C2-4F23-B466-4417C8ED3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4F4A1-146B-4D29-852A-F60996679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C31FF5-F97E-4082-BFC5-A880DB9F3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5B4CE-42DE-4E9B-B800-B5B8142E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2A82D-6614-0137-6655-DADAE86F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7/13/2026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8FC26-AD2F-5D8D-C200-1E8369B5333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Citations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142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0E31-1545-75AC-2D51-2624339C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2DCB6-E9A7-2E64-70E3-2718F82A6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American Academy of Pediatrics. “Clinical Practice Guideline: Diagnosis and Evaluation of the Child With Attention-Deficit/Hyperactivity Disorder.” Pediatrics. 2000;105(5):1158–1170. DOI: </a:t>
            </a:r>
            <a:r>
              <a:rPr lang="en-US" u="sng" dirty="0">
                <a:hlinkClick r:id="rId2"/>
              </a:rPr>
              <a:t>10.1542/peds.105.5.1158</a:t>
            </a:r>
            <a:endParaRPr lang="en-US" dirty="0"/>
          </a:p>
          <a:p>
            <a:r>
              <a:rPr lang="en-US" dirty="0"/>
              <a:t> Shalaby, N., Sengupta, S., &amp; Williams, J. B. (2024). Large-scale analysis reveals racial disparities in the prevalence of ADHD and conduct disorders. </a:t>
            </a:r>
            <a:r>
              <a:rPr lang="en-US" i="1" dirty="0"/>
              <a:t>Scientific Reports, 14</a:t>
            </a:r>
            <a:r>
              <a:rPr lang="en-US" dirty="0"/>
              <a:t>, Article 25123. </a:t>
            </a:r>
            <a:r>
              <a:rPr lang="en-US" dirty="0">
                <a:hlinkClick r:id="rId3"/>
              </a:rPr>
              <a:t>https://doi.org/10.1038/s41598-024-75954-5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21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5FE19-44C9-2632-9775-0D6CB477B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FF0999-5A40-1692-36C0-37056EB05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571736-9256-6B79-7232-F7FD11DB4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988BB-15B9-ACDE-5CBB-D2D85F6C7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1150" y="457200"/>
            <a:ext cx="8533646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BE82D2-9C83-E173-25C0-3721B054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2467" y="621793"/>
            <a:ext cx="8198780" cy="561441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D1E17-32A5-012C-CE54-B979B66F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616" y="881210"/>
            <a:ext cx="7417925" cy="15170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7/20/2026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1B298-A068-C992-DACA-2BD1DAD5F521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3844616" y="2626840"/>
            <a:ext cx="7245103" cy="313177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ADHD subtypes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Supplementary figures and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Codes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Figure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NMF (Add any_ADHD)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Prenatal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Developmental figure (any ADHD)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ADHD only vs. ASD + ADHD table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809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20680</TotalTime>
  <Words>411</Words>
  <Application>Microsoft Macintosh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Garamond</vt:lpstr>
      <vt:lpstr>Savon</vt:lpstr>
      <vt:lpstr>ADHD Comorbidity Diary</vt:lpstr>
      <vt:lpstr>7/13/2026</vt:lpstr>
      <vt:lpstr>Aims</vt:lpstr>
      <vt:lpstr>Data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7/13/2026</vt:lpstr>
      <vt:lpstr>Reference</vt:lpstr>
      <vt:lpstr>7/20/2026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Linna Kuang</dc:creator>
  <cp:lastModifiedBy>Linna Kuang</cp:lastModifiedBy>
  <cp:revision>2</cp:revision>
  <dcterms:created xsi:type="dcterms:W3CDTF">2026-07-13T11:41:47Z</dcterms:created>
  <dcterms:modified xsi:type="dcterms:W3CDTF">2026-07-27T20:23:45Z</dcterms:modified>
</cp:coreProperties>
</file>